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858000" cy="6583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3800" b="1" dirty="0">
                <a:solidFill>
                  <a:srgbClr val="F5F8FC"/>
                </a:solidFill>
                <a:latin typeface="Aptos"/>
              </a:rPr>
              <a:t>PIXEL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6858000" cy="6583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3800" b="1" dirty="0">
                <a:solidFill>
                  <a:srgbClr val="38CDDC"/>
                </a:solidFill>
                <a:latin typeface="Aptos"/>
              </a:rPr>
              <a:t>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43200"/>
            <a:ext cx="6035040" cy="5029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800" b="0" dirty="0">
                <a:solidFill>
                  <a:srgbClr val="AAB8CA"/>
                </a:solidFill>
                <a:latin typeface="Aptos"/>
              </a:rPr>
              <a:t>A console-based pixel drawing application developed in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57600"/>
            <a:ext cx="3063240" cy="329184"/>
          </a:xfrm>
          <a:prstGeom prst="round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3707892"/>
            <a:ext cx="306324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 dirty="0">
                <a:solidFill>
                  <a:srgbClr val="080C16"/>
                </a:solidFill>
                <a:latin typeface="Aptos"/>
              </a:rPr>
              <a:t>CSE115 • Section 4 • Group 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051560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91271" y="105156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47304" y="105156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03336" y="1051560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59367" y="105156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15400" y="105156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71432" y="1051560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27464" y="105156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83496" y="105156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939528" y="1051560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91271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47304" y="1307592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03336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59367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15400" y="1307592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71432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27464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83496" y="1307592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939528" y="130759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635240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91271" y="1563624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47304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403336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59367" y="1563624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15400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71432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27464" y="1563624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83496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939528" y="156362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35240" y="1819656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891271" y="181965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47304" y="181965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403336" y="1819656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659367" y="181965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15400" y="181965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71432" y="1819656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27464" y="181965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683496" y="181965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39528" y="1819656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635240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891271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47304" y="2075688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403336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659367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915400" y="2075688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71432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427464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683496" y="2075688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939528" y="207568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635240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891271" y="2331720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147304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403336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659367" y="2331720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915400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71432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427464" y="2331720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683496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939528" y="2331720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635240" y="2587752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891271" y="258775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147304" y="258775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403336" y="2587752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659367" y="258775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915400" y="258775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71432" y="2587752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427464" y="258775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683496" y="2587752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939528" y="2587752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635240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891271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147304" y="2843784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403336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659367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915400" y="2843784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171432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427464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683496" y="2843784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939528" y="2843784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635240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91271" y="3099816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147304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403336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659367" y="3099816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915400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171432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9427464" y="3099816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9683496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939528" y="3099816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35240" y="3355848"/>
            <a:ext cx="228600" cy="2286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891271" y="335584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147304" y="335584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403336" y="3355848"/>
            <a:ext cx="228600" cy="228600"/>
          </a:xfrm>
          <a:prstGeom prst="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659367" y="335584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915400" y="335584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171432" y="3355848"/>
            <a:ext cx="228600" cy="228600"/>
          </a:xfrm>
          <a:prstGeom prst="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9427464" y="335584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9683496" y="3355848"/>
            <a:ext cx="228600" cy="228600"/>
          </a:xfrm>
          <a:prstGeom prst="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939528" y="3355848"/>
            <a:ext cx="228600" cy="2286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223760" y="3753612"/>
            <a:ext cx="338328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 dirty="0">
                <a:solidFill>
                  <a:srgbClr val="F5F8FC"/>
                </a:solidFill>
                <a:latin typeface="Aptos"/>
              </a:rPr>
              <a:t>15 × 15 canvas  •  16-color palette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95160" y="4078225"/>
            <a:ext cx="384048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00" b="0" dirty="0">
                <a:solidFill>
                  <a:srgbClr val="AAB8CA"/>
                </a:solidFill>
                <a:latin typeface="Aptos"/>
              </a:rPr>
              <a:t>Draw  •  Erase  •  Fill  •  Load  •  Save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" y="6126480"/>
            <a:ext cx="22860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0" dirty="0">
                <a:solidFill>
                  <a:srgbClr val="AAB8CA"/>
                </a:solidFill>
                <a:latin typeface="Aptos"/>
              </a:rPr>
              <a:t>Project presentation</a:t>
            </a:r>
          </a:p>
        </p:txBody>
      </p:sp>
      <p:sp>
        <p:nvSpPr>
          <p:cNvPr id="112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  <p:sp>
        <p:nvSpPr>
          <p:cNvPr id="113" name="Members"/>
          <p:cNvSpPr txBox="1"/>
          <p:nvPr/>
        </p:nvSpPr>
        <p:spPr>
          <a:xfrm>
            <a:off x="713232" y="4267200"/>
            <a:ext cx="60350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Nahidul Islam Anim • Md Samiuzzaman Bhuiyan • Jubair Pasha • Anindita Barua Sneha •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38CDDC"/>
                </a:solidFill>
                <a:latin typeface="Aptos"/>
              </a:rPr>
              <a:t>01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0704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6492240" cy="452628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30352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What the application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577840" cy="2468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Represents a drawing canvas as a 15 × 15 grid.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Uses a fixed 16-color palette and menu-driven interaction.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Supports pixel drawing, erasing, and color-region filling.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Demonstrates 2D arrays, functions, loops, conditions, and input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18288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38CDDC"/>
                </a:solidFill>
                <a:latin typeface="Aptos"/>
              </a:rPr>
              <a:t>Core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57800"/>
            <a:ext cx="1170432" cy="457200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376672"/>
            <a:ext cx="1170432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38CDDC"/>
                </a:solidFill>
                <a:latin typeface="Aptos"/>
              </a:rPr>
              <a:t>Canvas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0824" y="5376672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58568" y="5257800"/>
            <a:ext cx="1170432" cy="457200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58568" y="5376672"/>
            <a:ext cx="1170432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9748"/>
                </a:solidFill>
                <a:latin typeface="Apto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1" y="5376672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48456" y="5257800"/>
            <a:ext cx="1170432" cy="457200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48456" y="5376672"/>
            <a:ext cx="1170432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54C991"/>
                </a:solidFill>
                <a:latin typeface="Aptos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376672"/>
            <a:ext cx="219456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8344" y="5257800"/>
            <a:ext cx="1170432" cy="457200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38344" y="5376672"/>
            <a:ext cx="1170432" cy="1828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Render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42048" y="1408176"/>
            <a:ext cx="4352544" cy="2103120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lide2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0" y="1505827"/>
            <a:ext cx="3931920" cy="182919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05178" y="3327750"/>
            <a:ext cx="1995803" cy="19082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 dirty="0">
                <a:solidFill>
                  <a:srgbClr val="AAB8CA"/>
                </a:solidFill>
                <a:latin typeface="Aptos"/>
              </a:rPr>
              <a:t>Console interface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: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 15 × 15 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C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anvas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749039"/>
            <a:ext cx="4206240" cy="214884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4069080"/>
            <a:ext cx="1178400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 dirty="0">
                <a:solidFill>
                  <a:srgbClr val="38CDDC"/>
                </a:solidFill>
                <a:latin typeface="Aptos"/>
              </a:rPr>
              <a:t>Design </a:t>
            </a:r>
            <a:r>
              <a:rPr lang="en-US" sz="1200" b="1" dirty="0">
                <a:solidFill>
                  <a:srgbClr val="38CDDC"/>
                </a:solidFill>
                <a:latin typeface="Aptos"/>
              </a:rPr>
              <a:t>P</a:t>
            </a:r>
            <a:r>
              <a:rPr sz="1200" b="1" dirty="0">
                <a:solidFill>
                  <a:srgbClr val="38CDDC"/>
                </a:solidFill>
                <a:latin typeface="Aptos"/>
              </a:rPr>
              <a:t>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80560"/>
            <a:ext cx="3733800" cy="6832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100" b="1" dirty="0">
                <a:solidFill>
                  <a:srgbClr val="F5F8FC"/>
                </a:solidFill>
                <a:latin typeface="Aptos"/>
              </a:rPr>
              <a:t>K</a:t>
            </a:r>
            <a:r>
              <a:rPr sz="2100" b="1" dirty="0">
                <a:solidFill>
                  <a:srgbClr val="F5F8FC"/>
                </a:solidFill>
                <a:latin typeface="Aptos"/>
              </a:rPr>
              <a:t>eep editing operations small, explicit, and easy to validate.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1" y="5326732"/>
            <a:ext cx="3733800" cy="40626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1200" dirty="0">
                <a:solidFill>
                  <a:srgbClr val="AAB8CA"/>
                </a:solidFill>
                <a:latin typeface="Aptos"/>
              </a:rPr>
              <a:t>M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ouse interaction selects tools, colors, and canvas positions.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38CDDC"/>
                </a:solidFill>
                <a:latin typeface="Aptos"/>
              </a:rPr>
              <a:t>02 /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0704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Editing Tools — Draw &amp; Erase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5440680" cy="452628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1051560" cy="329184"/>
          </a:xfrm>
          <a:prstGeom prst="round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132"/>
            <a:ext cx="10515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 dirty="0">
                <a:solidFill>
                  <a:srgbClr val="080C16"/>
                </a:solidFill>
                <a:latin typeface="Aptos"/>
              </a:rPr>
              <a:t>DRAW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38912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Paint one pixel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4389120" cy="20116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Select a row and column through mouse input.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Choose the active color from the palette.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Write the color value into the selected cell.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Validate coordinates before changing the canvas.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7584" y="5580263"/>
            <a:ext cx="3299365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Example: 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T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he number “5” is drawn on the canvas.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65392" y="1691640"/>
            <a:ext cx="1143000" cy="329184"/>
          </a:xfrm>
          <a:prstGeom prst="roundRect">
            <a:avLst/>
          </a:prstGeom>
          <a:solidFill>
            <a:srgbClr val="FF9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751076"/>
            <a:ext cx="114300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 dirty="0">
                <a:solidFill>
                  <a:srgbClr val="080C16"/>
                </a:solidFill>
                <a:latin typeface="Aptos"/>
              </a:rPr>
              <a:t>ERASE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176272"/>
            <a:ext cx="438912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Reset a selected cell to blank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43200"/>
            <a:ext cx="4389120" cy="15544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Select the target position using mouse input.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Reset the selected pixel to zero.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Apply boundary validation before editing.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1384" y="4041648"/>
            <a:ext cx="4672584" cy="1426463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34089" y="5595056"/>
            <a:ext cx="2124311" cy="22159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200" b="1" dirty="0">
                <a:solidFill>
                  <a:srgbClr val="AAB8CA"/>
                </a:solidFill>
                <a:latin typeface="Aptos"/>
              </a:rPr>
              <a:t>Example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: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 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E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rased 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R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ows 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&amp;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 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C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olumns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B60D8D-EE7D-CFD7-2FC4-C80D74E9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15" y="4088383"/>
            <a:ext cx="4761389" cy="15119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DD59E1-ED23-1E14-5FDA-55FA59F8F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642" y="4175012"/>
            <a:ext cx="2643251" cy="12462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B456606-DEB6-43C6-AABA-6690173B5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913" y="4148888"/>
            <a:ext cx="2643251" cy="1211981"/>
          </a:xfrm>
          <a:prstGeom prst="rect">
            <a:avLst/>
          </a:prstGeom>
        </p:spPr>
      </p:pic>
      <p:sp>
        <p:nvSpPr>
          <p:cNvPr id="26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38CDDC"/>
                </a:solidFill>
                <a:latin typeface="Aptos"/>
              </a:rPr>
              <a:t>03 / REGION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0704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Editing Tools — 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5074920" cy="452628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691640"/>
            <a:ext cx="960120" cy="329184"/>
          </a:xfrm>
          <a:prstGeom prst="roundRect">
            <a:avLst/>
          </a:prstGeom>
          <a:solidFill>
            <a:srgbClr val="54C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96012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100" b="1" dirty="0">
                <a:solidFill>
                  <a:srgbClr val="080C16"/>
                </a:solidFill>
                <a:latin typeface="Aptos"/>
              </a:rPr>
              <a:t>FILL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4160520" cy="53035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Change a connected color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160520" cy="19202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Select a target color and replacement color.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Find matching pixels in the selected region.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Replace the existing color with the new color.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Useful for quickly recoloring repeated areas.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4076885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Source 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E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xample: 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S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ame-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C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olored pixels are changed to orange.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8" y="1344168"/>
            <a:ext cx="5632704" cy="2660904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lide5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1426112"/>
            <a:ext cx="5166360" cy="23679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86229" y="3804139"/>
            <a:ext cx="1423531" cy="19082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lang="en-US" sz="1000" b="1" dirty="0">
                <a:solidFill>
                  <a:srgbClr val="AAB8CA"/>
                </a:solidFill>
                <a:latin typeface="Aptos"/>
              </a:rPr>
              <a:t>E</a:t>
            </a:r>
            <a:r>
              <a:rPr sz="1000" b="1" dirty="0">
                <a:solidFill>
                  <a:srgbClr val="AAB8CA"/>
                </a:solidFill>
                <a:latin typeface="Aptos"/>
              </a:rPr>
              <a:t>xample</a:t>
            </a:r>
            <a:r>
              <a:rPr lang="en-US" sz="1000" b="1" dirty="0">
                <a:solidFill>
                  <a:srgbClr val="AAB8CA"/>
                </a:solidFill>
                <a:latin typeface="Aptos"/>
              </a:rPr>
              <a:t>: Fill Operation</a:t>
            </a:r>
            <a:endParaRPr sz="1000" b="1" dirty="0">
              <a:solidFill>
                <a:srgbClr val="AAB8C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89320" y="4224528"/>
            <a:ext cx="5486400" cy="1719072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4507992"/>
            <a:ext cx="128016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38CDDC"/>
                </a:solidFill>
                <a:latin typeface="Aptos"/>
              </a:rPr>
              <a:t>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901184"/>
            <a:ext cx="132588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AAB8CA"/>
                </a:solidFill>
                <a:latin typeface="Aptos"/>
              </a:rPr>
              <a:t>Target color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901184"/>
            <a:ext cx="132588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901184"/>
            <a:ext cx="132588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FF9748"/>
                </a:solidFill>
                <a:latin typeface="Aptos"/>
              </a:rPr>
              <a:t>Replacement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94960"/>
            <a:ext cx="484632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200" b="0">
                <a:solidFill>
                  <a:srgbClr val="AAB8CA"/>
                </a:solidFill>
                <a:latin typeface="Aptos"/>
              </a:rPr>
              <a:t>One selection can update multiple matching cells.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38CDDC"/>
                </a:solidFill>
                <a:latin typeface="Aptos"/>
              </a:rPr>
              <a:t>04 / FILE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0704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Save &amp; Load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35607"/>
            <a:ext cx="5724144" cy="2752344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6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38" y="1510694"/>
            <a:ext cx="5143500" cy="2403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71388" y="3909268"/>
            <a:ext cx="2922851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 dirty="0">
                <a:solidFill>
                  <a:srgbClr val="AAB8CA"/>
                </a:solidFill>
                <a:latin typeface="Aptos"/>
              </a:rPr>
              <a:t>Loaded </a:t>
            </a:r>
            <a:r>
              <a:rPr lang="en-US" sz="1200" b="1" dirty="0">
                <a:solidFill>
                  <a:srgbClr val="AAB8CA"/>
                </a:solidFill>
                <a:latin typeface="Aptos"/>
              </a:rPr>
              <a:t>I</a:t>
            </a:r>
            <a:r>
              <a:rPr sz="1200" b="1" dirty="0">
                <a:solidFill>
                  <a:srgbClr val="AAB8CA"/>
                </a:solidFill>
                <a:latin typeface="Aptos"/>
              </a:rPr>
              <a:t>mage represented on the </a:t>
            </a:r>
            <a:r>
              <a:rPr lang="en-US" sz="1200" b="1" dirty="0">
                <a:solidFill>
                  <a:srgbClr val="AAB8CA"/>
                </a:solidFill>
                <a:latin typeface="Aptos"/>
              </a:rPr>
              <a:t>C</a:t>
            </a:r>
            <a:r>
              <a:rPr sz="1200" b="1" dirty="0">
                <a:solidFill>
                  <a:srgbClr val="AAB8CA"/>
                </a:solidFill>
                <a:latin typeface="Aptos"/>
              </a:rPr>
              <a:t>anvas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434840"/>
            <a:ext cx="5577840" cy="141732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736592"/>
            <a:ext cx="914400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>
                <a:solidFill>
                  <a:srgbClr val="38CDDC"/>
                </a:solidFill>
                <a:latin typeface="Aptos"/>
              </a:rP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1" y="5074920"/>
            <a:ext cx="5135880" cy="49859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1500" dirty="0">
                <a:solidFill>
                  <a:srgbClr val="F5F8FC"/>
                </a:solidFill>
                <a:latin typeface="Aptos"/>
              </a:rPr>
              <a:t>S</a:t>
            </a:r>
            <a:r>
              <a:rPr sz="1500" b="0" dirty="0">
                <a:solidFill>
                  <a:srgbClr val="F5F8FC"/>
                </a:solidFill>
                <a:latin typeface="Aptos"/>
              </a:rPr>
              <a:t>elect an image from the computer and map it to the 15 × 15 </a:t>
            </a:r>
            <a:r>
              <a:rPr lang="en-US" sz="1500" b="0" dirty="0">
                <a:solidFill>
                  <a:srgbClr val="F5F8FC"/>
                </a:solidFill>
                <a:latin typeface="Aptos"/>
              </a:rPr>
              <a:t>C</a:t>
            </a:r>
            <a:r>
              <a:rPr sz="1500" b="0" dirty="0">
                <a:solidFill>
                  <a:srgbClr val="F5F8FC"/>
                </a:solidFill>
                <a:latin typeface="Aptos"/>
              </a:rPr>
              <a:t>anvas.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508760"/>
            <a:ext cx="4983480" cy="434340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783080"/>
            <a:ext cx="1625573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000" b="1" dirty="0">
                <a:solidFill>
                  <a:srgbClr val="F5F8FC"/>
                </a:solidFill>
                <a:latin typeface="Aptos"/>
              </a:rPr>
              <a:t>File </a:t>
            </a:r>
            <a:r>
              <a:rPr lang="en-US" sz="2000" b="1" dirty="0">
                <a:solidFill>
                  <a:srgbClr val="F5F8FC"/>
                </a:solidFill>
                <a:latin typeface="Aptos"/>
              </a:rPr>
              <a:t>W</a:t>
            </a:r>
            <a:r>
              <a:rPr sz="2000" b="1" dirty="0">
                <a:solidFill>
                  <a:srgbClr val="F5F8FC"/>
                </a:solidFill>
                <a:latin typeface="Aptos"/>
              </a:rPr>
              <a:t>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331720"/>
            <a:ext cx="41148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38CDDC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313432"/>
            <a:ext cx="333756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Select image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8312" y="2642615"/>
            <a:ext cx="18288" cy="384048"/>
          </a:xfrm>
          <a:prstGeom prst="rect">
            <a:avLst/>
          </a:prstGeom>
          <a:solidFill>
            <a:srgbClr val="3C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6288" y="3081527"/>
            <a:ext cx="41148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F9748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063239"/>
            <a:ext cx="333756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Render image to cells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68312" y="3392423"/>
            <a:ext cx="18288" cy="384048"/>
          </a:xfrm>
          <a:prstGeom prst="rect">
            <a:avLst/>
          </a:prstGeom>
          <a:solidFill>
            <a:srgbClr val="3C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3831335"/>
            <a:ext cx="41148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54C99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813048"/>
            <a:ext cx="333756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Adjust to canvas ratio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68312" y="4142231"/>
            <a:ext cx="18288" cy="384048"/>
          </a:xfrm>
          <a:prstGeom prst="rect">
            <a:avLst/>
          </a:prstGeom>
          <a:solidFill>
            <a:srgbClr val="3C4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76288" y="4581144"/>
            <a:ext cx="411480" cy="292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562856"/>
            <a:ext cx="333756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Save work as 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8790" y="5138826"/>
            <a:ext cx="4395178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PNG export keeps the finished artwork available on the 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C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omputer.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38CDDC"/>
                </a:solidFill>
                <a:latin typeface="Aptos"/>
              </a:rPr>
              <a:t>05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0704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How the Editor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749453" cy="34471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000" b="1" dirty="0">
                <a:solidFill>
                  <a:srgbClr val="F5F8FC"/>
                </a:solidFill>
                <a:latin typeface="Aptos"/>
              </a:rPr>
              <a:t>User </a:t>
            </a:r>
            <a:r>
              <a:rPr lang="en-US" sz="2000" b="1" dirty="0">
                <a:solidFill>
                  <a:srgbClr val="F5F8FC"/>
                </a:solidFill>
                <a:latin typeface="Aptos"/>
              </a:rPr>
              <a:t>W</a:t>
            </a:r>
            <a:r>
              <a:rPr sz="2000" b="1" dirty="0">
                <a:solidFill>
                  <a:srgbClr val="F5F8FC"/>
                </a:solidFill>
                <a:latin typeface="Aptos"/>
              </a:rPr>
              <a:t>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737360" cy="1078992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347472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38CDD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4642" y="2252014"/>
            <a:ext cx="1205523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sz="1500" b="1" dirty="0">
                <a:solidFill>
                  <a:srgbClr val="F5F8FC"/>
                </a:solidFill>
                <a:latin typeface="Aptos"/>
              </a:rPr>
              <a:t>C</a:t>
            </a:r>
            <a:r>
              <a:rPr sz="1500" b="1" dirty="0">
                <a:solidFill>
                  <a:srgbClr val="F5F8FC"/>
                </a:solidFill>
                <a:latin typeface="Aptos"/>
              </a:rPr>
              <a:t>hoose color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2395728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5" y="2057400"/>
            <a:ext cx="1737360" cy="1078992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7" y="2267712"/>
            <a:ext cx="347472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FF9748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3540" y="2253901"/>
            <a:ext cx="999376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 dirty="0">
                <a:solidFill>
                  <a:srgbClr val="F5F8FC"/>
                </a:solidFill>
                <a:latin typeface="Aptos"/>
              </a:rPr>
              <a:t>Select </a:t>
            </a:r>
            <a:r>
              <a:rPr lang="en-US" sz="1500" b="1" dirty="0">
                <a:solidFill>
                  <a:srgbClr val="F5F8FC"/>
                </a:solidFill>
                <a:latin typeface="Aptos"/>
              </a:rPr>
              <a:t>T</a:t>
            </a:r>
            <a:r>
              <a:rPr sz="1500" b="1" dirty="0">
                <a:solidFill>
                  <a:srgbClr val="F5F8FC"/>
                </a:solidFill>
                <a:latin typeface="Aptos"/>
              </a:rPr>
              <a:t>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95728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2057400"/>
            <a:ext cx="1737360" cy="1078992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02936" y="2267712"/>
            <a:ext cx="347472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54C991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0928" y="2261845"/>
            <a:ext cx="1178464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 dirty="0">
                <a:solidFill>
                  <a:srgbClr val="F5F8FC"/>
                </a:solidFill>
                <a:latin typeface="Aptos"/>
              </a:rPr>
              <a:t>Click </a:t>
            </a:r>
            <a:r>
              <a:rPr lang="en-US" sz="1500" b="1" dirty="0">
                <a:solidFill>
                  <a:srgbClr val="F5F8FC"/>
                </a:solidFill>
                <a:latin typeface="Aptos"/>
              </a:rPr>
              <a:t>C</a:t>
            </a:r>
            <a:r>
              <a:rPr sz="1500" b="1" dirty="0">
                <a:solidFill>
                  <a:srgbClr val="F5F8FC"/>
                </a:solidFill>
                <a:latin typeface="Aptos"/>
              </a:rPr>
              <a:t>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395728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2057400"/>
            <a:ext cx="1737360" cy="1078992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15783" y="2267712"/>
            <a:ext cx="347472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3709" y="2257194"/>
            <a:ext cx="1136978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 dirty="0">
                <a:solidFill>
                  <a:srgbClr val="F5F8FC"/>
                </a:solidFill>
                <a:latin typeface="Aptos"/>
              </a:rPr>
              <a:t>View </a:t>
            </a:r>
            <a:r>
              <a:rPr lang="en-US" sz="1500" b="1" dirty="0">
                <a:solidFill>
                  <a:srgbClr val="F5F8FC"/>
                </a:solidFill>
                <a:latin typeface="Aptos"/>
              </a:rPr>
              <a:t>U</a:t>
            </a:r>
            <a:r>
              <a:rPr sz="1500" b="1" dirty="0">
                <a:solidFill>
                  <a:srgbClr val="F5F8FC"/>
                </a:solidFill>
                <a:latin typeface="Aptos"/>
              </a:rPr>
              <a:t>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395728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400" b="1">
                <a:solidFill>
                  <a:srgbClr val="AAB8C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057400"/>
            <a:ext cx="1737360" cy="1078992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28632" y="2267712"/>
            <a:ext cx="347472" cy="2743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400" b="1">
                <a:solidFill>
                  <a:srgbClr val="38CDDC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104" y="2257194"/>
            <a:ext cx="1036053" cy="26776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1" dirty="0">
                <a:solidFill>
                  <a:srgbClr val="F5F8FC"/>
                </a:solidFill>
                <a:latin typeface="Aptos"/>
              </a:rPr>
              <a:t>Save / </a:t>
            </a:r>
            <a:r>
              <a:rPr lang="en-US" sz="1500" b="1" dirty="0">
                <a:solidFill>
                  <a:srgbClr val="F5F8FC"/>
                </a:solidFill>
                <a:latin typeface="Aptos"/>
              </a:rPr>
              <a:t>L</a:t>
            </a:r>
            <a:r>
              <a:rPr sz="1500" b="1" dirty="0">
                <a:solidFill>
                  <a:srgbClr val="F5F8FC"/>
                </a:solidFill>
                <a:latin typeface="Aptos"/>
              </a:rPr>
              <a:t>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57600"/>
            <a:ext cx="5303520" cy="192024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861230"/>
            <a:ext cx="1618264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 dirty="0">
                <a:solidFill>
                  <a:srgbClr val="38CDDC"/>
                </a:solidFill>
                <a:latin typeface="Aptos"/>
              </a:rPr>
              <a:t>Implementation </a:t>
            </a:r>
            <a:r>
              <a:rPr lang="en-US" sz="1200" b="1" dirty="0">
                <a:solidFill>
                  <a:srgbClr val="38CDDC"/>
                </a:solidFill>
                <a:latin typeface="Aptos"/>
              </a:rPr>
              <a:t>F</a:t>
            </a:r>
            <a:r>
              <a:rPr sz="1200" b="1" dirty="0">
                <a:solidFill>
                  <a:srgbClr val="38CDDC"/>
                </a:solidFill>
                <a:latin typeface="Aptos"/>
              </a:rPr>
              <a:t>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224528"/>
            <a:ext cx="4572000" cy="118404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 </a:t>
            </a:r>
            <a:r>
              <a:rPr lang="en-US" dirty="0"/>
              <a:t>G</a:t>
            </a:r>
            <a:r>
              <a:rPr dirty="0"/>
              <a:t>lobal 2D array stores the 15 × 15 canvas.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 Separate functions handle drawing, erasing, filling, and interaction.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 Boundary checks protect valid canvas coordinates.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657600"/>
            <a:ext cx="5349240" cy="192024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857696"/>
            <a:ext cx="1272336" cy="221599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200" b="1" dirty="0">
                <a:solidFill>
                  <a:srgbClr val="FF9748"/>
                </a:solidFill>
                <a:latin typeface="Aptos"/>
              </a:rPr>
              <a:t>Interaction </a:t>
            </a:r>
            <a:r>
              <a:rPr lang="en-US" sz="1200" b="1" dirty="0">
                <a:solidFill>
                  <a:srgbClr val="FF9748"/>
                </a:solidFill>
                <a:latin typeface="Aptos"/>
              </a:rPr>
              <a:t>M</a:t>
            </a:r>
            <a:r>
              <a:rPr sz="1200" b="1" dirty="0">
                <a:solidFill>
                  <a:srgbClr val="FF9748"/>
                </a:solidFill>
                <a:latin typeface="Aptos"/>
              </a:rPr>
              <a:t>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0157" y="4224528"/>
            <a:ext cx="4572000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 Mouse input selects pixels and controls.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 The interface is refreshed after an editing action.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 Keyboard shortcuts support save, load, and quit.</a:t>
            </a:r>
          </a:p>
        </p:txBody>
      </p:sp>
      <p:sp>
        <p:nvSpPr>
          <p:cNvPr id="32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560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1">
                <a:solidFill>
                  <a:srgbClr val="38CDDC"/>
                </a:solidFill>
                <a:latin typeface="Aptos"/>
              </a:rPr>
              <a:t>06 /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07040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600" b="1">
                <a:solidFill>
                  <a:srgbClr val="F5F8FC"/>
                </a:solidFill>
                <a:latin typeface="Aptos"/>
              </a:rPr>
              <a:t>Conclusion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4747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000" b="1">
                <a:solidFill>
                  <a:srgbClr val="AAB8CA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424160" cy="475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A compact C project with a complete interactive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9875520" cy="36576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500" b="0">
                <a:solidFill>
                  <a:srgbClr val="AAB8CA"/>
                </a:solidFill>
                <a:latin typeface="Aptos"/>
              </a:rPr>
              <a:t>The project connects fundamental programming concepts to a practical visual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80360"/>
            <a:ext cx="3401568" cy="150876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38CDD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247" y="3057305"/>
            <a:ext cx="1524969" cy="29854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700" b="1" dirty="0">
                <a:solidFill>
                  <a:srgbClr val="F5F8FC"/>
                </a:solidFill>
                <a:latin typeface="Aptos"/>
              </a:rPr>
              <a:t>Core </a:t>
            </a:r>
            <a:r>
              <a:rPr lang="en-US" sz="1700" b="1" dirty="0">
                <a:solidFill>
                  <a:srgbClr val="F5F8FC"/>
                </a:solidFill>
                <a:latin typeface="Aptos"/>
              </a:rPr>
              <a:t>C</a:t>
            </a:r>
            <a:r>
              <a:rPr sz="1700" b="1" dirty="0">
                <a:solidFill>
                  <a:srgbClr val="F5F8FC"/>
                </a:solidFill>
                <a:latin typeface="Aptos"/>
              </a:rPr>
              <a:t>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4349" y="3462879"/>
            <a:ext cx="1369606" cy="77559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2D 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A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rrays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 F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unctions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 L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oops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C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ontrol 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S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tructures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2880360"/>
            <a:ext cx="3401568" cy="150876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127248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FF974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45150"/>
            <a:ext cx="1431546" cy="29854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700" b="1" dirty="0">
                <a:solidFill>
                  <a:srgbClr val="F5F8FC"/>
                </a:solidFill>
                <a:latin typeface="Aptos"/>
              </a:rPr>
              <a:t>Core </a:t>
            </a:r>
            <a:r>
              <a:rPr lang="en-US" sz="1700" b="1" dirty="0">
                <a:solidFill>
                  <a:srgbClr val="F5F8FC"/>
                </a:solidFill>
                <a:latin typeface="Aptos"/>
              </a:rPr>
              <a:t>F</a:t>
            </a:r>
            <a:r>
              <a:rPr sz="1700" b="1" dirty="0">
                <a:solidFill>
                  <a:srgbClr val="F5F8FC"/>
                </a:solidFill>
                <a:latin typeface="Aptos"/>
              </a:rPr>
              <a:t>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3103" y="3327867"/>
            <a:ext cx="543739" cy="96026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Draw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E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rase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F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ill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L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oad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S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880360"/>
            <a:ext cx="3401568" cy="1508760"/>
          </a:xfrm>
          <a:prstGeom prst="round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3127248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100" b="1">
                <a:solidFill>
                  <a:srgbClr val="54C991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464" y="3055701"/>
            <a:ext cx="1658403" cy="29854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700" b="1" dirty="0">
                <a:solidFill>
                  <a:srgbClr val="F5F8FC"/>
                </a:solidFill>
                <a:latin typeface="Aptos"/>
              </a:rPr>
              <a:t>User </a:t>
            </a:r>
            <a:r>
              <a:rPr lang="en-US" sz="1700" b="1" dirty="0">
                <a:solidFill>
                  <a:srgbClr val="F5F8FC"/>
                </a:solidFill>
                <a:latin typeface="Aptos"/>
              </a:rPr>
              <a:t>E</a:t>
            </a:r>
            <a:r>
              <a:rPr sz="1700" b="1" dirty="0">
                <a:solidFill>
                  <a:srgbClr val="F5F8FC"/>
                </a:solidFill>
                <a:latin typeface="Aptos"/>
              </a:rPr>
              <a:t>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7566" y="3429000"/>
            <a:ext cx="1232197" cy="590931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Simple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User-I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nteractive </a:t>
            </a:r>
            <a:endParaRPr lang="en-US" sz="1200" b="0" dirty="0">
              <a:solidFill>
                <a:srgbClr val="AAB8CA"/>
              </a:solidFill>
              <a:latin typeface="Aptos"/>
            </a:endParaRPr>
          </a:p>
          <a:p>
            <a:pPr algn="l"/>
            <a:r>
              <a:rPr sz="1200" b="0" dirty="0">
                <a:solidFill>
                  <a:srgbClr val="AAB8CA"/>
                </a:solidFill>
                <a:latin typeface="Aptos"/>
              </a:rPr>
              <a:t>• </a:t>
            </a:r>
            <a:r>
              <a:rPr lang="en-US" sz="1200" dirty="0">
                <a:solidFill>
                  <a:srgbClr val="AAB8CA"/>
                </a:solidFill>
                <a:latin typeface="Aptos"/>
              </a:rPr>
              <a:t>C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onsole-</a:t>
            </a:r>
            <a:r>
              <a:rPr lang="en-US" sz="1200" b="0" dirty="0">
                <a:solidFill>
                  <a:srgbClr val="AAB8CA"/>
                </a:solidFill>
                <a:latin typeface="Aptos"/>
              </a:rPr>
              <a:t>B</a:t>
            </a:r>
            <a:r>
              <a:rPr sz="1200" b="0" dirty="0">
                <a:solidFill>
                  <a:srgbClr val="AAB8CA"/>
                </a:solidFill>
                <a:latin typeface="Aptos"/>
              </a:rPr>
              <a:t>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00600"/>
            <a:ext cx="10954512" cy="841248"/>
          </a:xfrm>
          <a:prstGeom prst="roundRect">
            <a:avLst/>
          </a:prstGeom>
          <a:solidFill>
            <a:srgbClr val="1B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047488"/>
            <a:ext cx="1042416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600" b="1" dirty="0">
                <a:solidFill>
                  <a:srgbClr val="F5F8FC"/>
                </a:solidFill>
                <a:latin typeface="Aptos"/>
              </a:rPr>
              <a:t>Successfully built a simple, functional pixel art editor in C using a structured, user-interactive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7953" y="6053328"/>
            <a:ext cx="922047" cy="25237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r"/>
            <a:r>
              <a:rPr sz="1400" b="1" dirty="0">
                <a:solidFill>
                  <a:srgbClr val="38CDDC"/>
                </a:solidFill>
                <a:latin typeface="Aptos"/>
              </a:rPr>
              <a:t>Thank </a:t>
            </a:r>
            <a:r>
              <a:rPr lang="en-US" sz="1400" b="1" dirty="0">
                <a:solidFill>
                  <a:srgbClr val="38CDDC"/>
                </a:solidFill>
                <a:latin typeface="Aptos"/>
              </a:rPr>
              <a:t>Y</a:t>
            </a:r>
            <a:r>
              <a:rPr sz="1400" b="1" dirty="0">
                <a:solidFill>
                  <a:srgbClr val="38CDDC"/>
                </a:solidFill>
                <a:latin typeface="Aptos"/>
              </a:rPr>
              <a:t>ou</a:t>
            </a:r>
            <a:r>
              <a:rPr lang="en-US" sz="1400" b="1" dirty="0">
                <a:solidFill>
                  <a:srgbClr val="38CDDC"/>
                </a:solidFill>
                <a:latin typeface="Aptos"/>
              </a:rPr>
              <a:t>!</a:t>
            </a:r>
            <a:endParaRPr sz="1400" b="1" dirty="0">
              <a:solidFill>
                <a:srgbClr val="38CDDC"/>
              </a:solidFill>
              <a:latin typeface="Aptos"/>
            </a:endParaRPr>
          </a:p>
        </p:txBody>
      </p:sp>
      <p:sp>
        <p:nvSpPr>
          <p:cNvPr id="23" name="Footer"/>
          <p:cNvSpPr txBox="1"/>
          <p:nvPr/>
        </p:nvSpPr>
        <p:spPr>
          <a:xfrm>
            <a:off x="457200" y="6553200"/>
            <a:ext cx="112776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noAutofit/>
          </a:bodyPr>
          <a:lstStyle/>
          <a:p>
            <a:pPr algn="ctr"/>
            <a:r>
              <a:rPr sz="800" b="0" dirty="0">
                <a:solidFill>
                  <a:srgbClr val="6B7A94"/>
                </a:solidFill>
                <a:latin typeface="Aptos"/>
              </a:rPr>
              <a:t>Group 6 | Nahidul Islam Anim, Md Samiuzzaman Bhuiyan, Jubair Pasha, Anindita Barua Sneha, Lamia Nazmul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607</Words>
  <Application>Microsoft Office PowerPoint</Application>
  <PresentationFormat>Widescreen</PresentationFormat>
  <Paragraphs>127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Samiuzzaman</cp:lastModifiedBy>
  <cp:revision>3</cp:revision>
  <dcterms:created xsi:type="dcterms:W3CDTF">2013-01-27T09:14:16Z</dcterms:created>
  <dcterms:modified xsi:type="dcterms:W3CDTF">2026-08-18T10:45:46Z</dcterms:modified>
  <cp:category/>
</cp:coreProperties>
</file>