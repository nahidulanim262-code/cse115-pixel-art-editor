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87" d="100"/>
          <a:sy n="87" d="100"/>
        </p:scale>
        <p:origin x="499" y="3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8C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1292840" y="347472"/>
            <a:ext cx="411480" cy="22860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r"/>
            <a:r>
              <a:rPr sz="1000" b="1">
                <a:solidFill>
                  <a:srgbClr val="AAB8CA"/>
                </a:solidFill>
                <a:latin typeface="Aptos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25880"/>
            <a:ext cx="6858000" cy="658368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l"/>
            <a:r>
              <a:rPr sz="3800" b="1" dirty="0">
                <a:solidFill>
                  <a:srgbClr val="F5F8FC"/>
                </a:solidFill>
                <a:latin typeface="Aptos"/>
              </a:rPr>
              <a:t>PIXEL 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938528"/>
            <a:ext cx="6858000" cy="658368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l"/>
            <a:r>
              <a:rPr sz="3800" b="1" dirty="0">
                <a:solidFill>
                  <a:srgbClr val="38CDDC"/>
                </a:solidFill>
                <a:latin typeface="Aptos"/>
              </a:rPr>
              <a:t>EDITOR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743200"/>
            <a:ext cx="6035040" cy="50292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l"/>
            <a:r>
              <a:rPr sz="1800" b="0" dirty="0">
                <a:solidFill>
                  <a:srgbClr val="AAB8CA"/>
                </a:solidFill>
                <a:latin typeface="Aptos"/>
              </a:rPr>
              <a:t>A console-based pixel drawing application developed in C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3657600"/>
            <a:ext cx="3063240" cy="329184"/>
          </a:xfrm>
          <a:prstGeom prst="roundRect">
            <a:avLst/>
          </a:prstGeom>
          <a:solidFill>
            <a:srgbClr val="FF9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67512" y="3707892"/>
            <a:ext cx="3063240" cy="22860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ctr"/>
            <a:r>
              <a:rPr sz="1100" b="1" dirty="0">
                <a:solidFill>
                  <a:srgbClr val="080C16"/>
                </a:solidFill>
                <a:latin typeface="Aptos"/>
              </a:rPr>
              <a:t>CSE115 • Section 4 • Group 6</a:t>
            </a:r>
          </a:p>
        </p:txBody>
      </p:sp>
      <p:sp>
        <p:nvSpPr>
          <p:cNvPr id="9" name="Rectangle 8"/>
          <p:cNvSpPr/>
          <p:nvPr/>
        </p:nvSpPr>
        <p:spPr>
          <a:xfrm>
            <a:off x="7635240" y="1051560"/>
            <a:ext cx="228600" cy="228600"/>
          </a:xfrm>
          <a:prstGeom prst="rect">
            <a:avLst/>
          </a:prstGeom>
          <a:solidFill>
            <a:srgbClr val="38C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891271" y="1051560"/>
            <a:ext cx="228600" cy="228600"/>
          </a:xfrm>
          <a:prstGeom prst="rect">
            <a:avLst/>
          </a:prstGeom>
          <a:solidFill>
            <a:srgbClr val="1B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147304" y="1051560"/>
            <a:ext cx="228600" cy="228600"/>
          </a:xfrm>
          <a:prstGeom prst="rect">
            <a:avLst/>
          </a:prstGeom>
          <a:solidFill>
            <a:srgbClr val="1B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403336" y="1051560"/>
            <a:ext cx="228600" cy="228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8659367" y="1051560"/>
            <a:ext cx="228600" cy="228600"/>
          </a:xfrm>
          <a:prstGeom prst="rect">
            <a:avLst/>
          </a:prstGeom>
          <a:solidFill>
            <a:srgbClr val="1B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915400" y="1051560"/>
            <a:ext cx="228600" cy="228600"/>
          </a:xfrm>
          <a:prstGeom prst="rect">
            <a:avLst/>
          </a:prstGeom>
          <a:solidFill>
            <a:srgbClr val="1B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9171432" y="1051560"/>
            <a:ext cx="228600" cy="228600"/>
          </a:xfrm>
          <a:prstGeom prst="rect">
            <a:avLst/>
          </a:prstGeom>
          <a:solidFill>
            <a:srgbClr val="54C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9427464" y="1051560"/>
            <a:ext cx="228600" cy="228600"/>
          </a:xfrm>
          <a:prstGeom prst="rect">
            <a:avLst/>
          </a:prstGeom>
          <a:solidFill>
            <a:srgbClr val="1B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9683496" y="1051560"/>
            <a:ext cx="228600" cy="228600"/>
          </a:xfrm>
          <a:prstGeom prst="rect">
            <a:avLst/>
          </a:prstGeom>
          <a:solidFill>
            <a:srgbClr val="1B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9939528" y="1051560"/>
            <a:ext cx="228600" cy="228600"/>
          </a:xfrm>
          <a:prstGeom prst="rect">
            <a:avLst/>
          </a:prstGeom>
          <a:solidFill>
            <a:srgbClr val="FF9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7635240" y="1307592"/>
            <a:ext cx="228600" cy="228600"/>
          </a:xfrm>
          <a:prstGeom prst="rect">
            <a:avLst/>
          </a:prstGeom>
          <a:solidFill>
            <a:srgbClr val="1B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7891271" y="1307592"/>
            <a:ext cx="228600" cy="228600"/>
          </a:xfrm>
          <a:prstGeom prst="rect">
            <a:avLst/>
          </a:prstGeom>
          <a:solidFill>
            <a:srgbClr val="1B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8147304" y="1307592"/>
            <a:ext cx="228600" cy="228600"/>
          </a:xfrm>
          <a:prstGeom prst="rect">
            <a:avLst/>
          </a:prstGeom>
          <a:solidFill>
            <a:srgbClr val="FF9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403336" y="1307592"/>
            <a:ext cx="228600" cy="228600"/>
          </a:xfrm>
          <a:prstGeom prst="rect">
            <a:avLst/>
          </a:prstGeom>
          <a:solidFill>
            <a:srgbClr val="1B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659367" y="1307592"/>
            <a:ext cx="228600" cy="228600"/>
          </a:xfrm>
          <a:prstGeom prst="rect">
            <a:avLst/>
          </a:prstGeom>
          <a:solidFill>
            <a:srgbClr val="1B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8915400" y="1307592"/>
            <a:ext cx="228600" cy="228600"/>
          </a:xfrm>
          <a:prstGeom prst="rect">
            <a:avLst/>
          </a:prstGeom>
          <a:solidFill>
            <a:srgbClr val="38C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9171432" y="1307592"/>
            <a:ext cx="228600" cy="228600"/>
          </a:xfrm>
          <a:prstGeom prst="rect">
            <a:avLst/>
          </a:prstGeom>
          <a:solidFill>
            <a:srgbClr val="1B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9427464" y="1307592"/>
            <a:ext cx="228600" cy="228600"/>
          </a:xfrm>
          <a:prstGeom prst="rect">
            <a:avLst/>
          </a:prstGeom>
          <a:solidFill>
            <a:srgbClr val="1B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9683496" y="1307592"/>
            <a:ext cx="228600" cy="228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9939528" y="1307592"/>
            <a:ext cx="228600" cy="228600"/>
          </a:xfrm>
          <a:prstGeom prst="rect">
            <a:avLst/>
          </a:prstGeom>
          <a:solidFill>
            <a:srgbClr val="1B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7635240" y="1563624"/>
            <a:ext cx="228600" cy="228600"/>
          </a:xfrm>
          <a:prstGeom prst="rect">
            <a:avLst/>
          </a:prstGeom>
          <a:solidFill>
            <a:srgbClr val="1B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7891271" y="1563624"/>
            <a:ext cx="228600" cy="228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8147304" y="1563624"/>
            <a:ext cx="228600" cy="228600"/>
          </a:xfrm>
          <a:prstGeom prst="rect">
            <a:avLst/>
          </a:prstGeom>
          <a:solidFill>
            <a:srgbClr val="1B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8403336" y="1563624"/>
            <a:ext cx="228600" cy="228600"/>
          </a:xfrm>
          <a:prstGeom prst="rect">
            <a:avLst/>
          </a:prstGeom>
          <a:solidFill>
            <a:srgbClr val="1B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8659367" y="1563624"/>
            <a:ext cx="228600" cy="228600"/>
          </a:xfrm>
          <a:prstGeom prst="rect">
            <a:avLst/>
          </a:prstGeom>
          <a:solidFill>
            <a:srgbClr val="54C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8915400" y="1563624"/>
            <a:ext cx="228600" cy="228600"/>
          </a:xfrm>
          <a:prstGeom prst="rect">
            <a:avLst/>
          </a:prstGeom>
          <a:solidFill>
            <a:srgbClr val="1B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9171432" y="1563624"/>
            <a:ext cx="228600" cy="228600"/>
          </a:xfrm>
          <a:prstGeom prst="rect">
            <a:avLst/>
          </a:prstGeom>
          <a:solidFill>
            <a:srgbClr val="1B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9427464" y="1563624"/>
            <a:ext cx="228600" cy="228600"/>
          </a:xfrm>
          <a:prstGeom prst="rect">
            <a:avLst/>
          </a:prstGeom>
          <a:solidFill>
            <a:srgbClr val="FF9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9683496" y="1563624"/>
            <a:ext cx="228600" cy="228600"/>
          </a:xfrm>
          <a:prstGeom prst="rect">
            <a:avLst/>
          </a:prstGeom>
          <a:solidFill>
            <a:srgbClr val="1B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9939528" y="1563624"/>
            <a:ext cx="228600" cy="228600"/>
          </a:xfrm>
          <a:prstGeom prst="rect">
            <a:avLst/>
          </a:prstGeom>
          <a:solidFill>
            <a:srgbClr val="1B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635240" y="1819656"/>
            <a:ext cx="228600" cy="228600"/>
          </a:xfrm>
          <a:prstGeom prst="rect">
            <a:avLst/>
          </a:prstGeom>
          <a:solidFill>
            <a:srgbClr val="FF9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7891271" y="1819656"/>
            <a:ext cx="228600" cy="228600"/>
          </a:xfrm>
          <a:prstGeom prst="rect">
            <a:avLst/>
          </a:prstGeom>
          <a:solidFill>
            <a:srgbClr val="1B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8147304" y="1819656"/>
            <a:ext cx="228600" cy="228600"/>
          </a:xfrm>
          <a:prstGeom prst="rect">
            <a:avLst/>
          </a:prstGeom>
          <a:solidFill>
            <a:srgbClr val="1B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8403336" y="1819656"/>
            <a:ext cx="228600" cy="228600"/>
          </a:xfrm>
          <a:prstGeom prst="rect">
            <a:avLst/>
          </a:prstGeom>
          <a:solidFill>
            <a:srgbClr val="38C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8659367" y="1819656"/>
            <a:ext cx="228600" cy="228600"/>
          </a:xfrm>
          <a:prstGeom prst="rect">
            <a:avLst/>
          </a:prstGeom>
          <a:solidFill>
            <a:srgbClr val="1B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8915400" y="1819656"/>
            <a:ext cx="228600" cy="228600"/>
          </a:xfrm>
          <a:prstGeom prst="rect">
            <a:avLst/>
          </a:prstGeom>
          <a:solidFill>
            <a:srgbClr val="1B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9171432" y="1819656"/>
            <a:ext cx="228600" cy="228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9427464" y="1819656"/>
            <a:ext cx="228600" cy="228600"/>
          </a:xfrm>
          <a:prstGeom prst="rect">
            <a:avLst/>
          </a:prstGeom>
          <a:solidFill>
            <a:srgbClr val="1B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9683496" y="1819656"/>
            <a:ext cx="228600" cy="228600"/>
          </a:xfrm>
          <a:prstGeom prst="rect">
            <a:avLst/>
          </a:prstGeom>
          <a:solidFill>
            <a:srgbClr val="1B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9939528" y="1819656"/>
            <a:ext cx="228600" cy="228600"/>
          </a:xfrm>
          <a:prstGeom prst="rect">
            <a:avLst/>
          </a:prstGeom>
          <a:solidFill>
            <a:srgbClr val="54C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7635240" y="2075688"/>
            <a:ext cx="228600" cy="228600"/>
          </a:xfrm>
          <a:prstGeom prst="rect">
            <a:avLst/>
          </a:prstGeom>
          <a:solidFill>
            <a:srgbClr val="1B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7891271" y="2075688"/>
            <a:ext cx="228600" cy="228600"/>
          </a:xfrm>
          <a:prstGeom prst="rect">
            <a:avLst/>
          </a:prstGeom>
          <a:solidFill>
            <a:srgbClr val="1B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8147304" y="2075688"/>
            <a:ext cx="228600" cy="228600"/>
          </a:xfrm>
          <a:prstGeom prst="rect">
            <a:avLst/>
          </a:prstGeom>
          <a:solidFill>
            <a:srgbClr val="54C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8403336" y="2075688"/>
            <a:ext cx="228600" cy="228600"/>
          </a:xfrm>
          <a:prstGeom prst="rect">
            <a:avLst/>
          </a:prstGeom>
          <a:solidFill>
            <a:srgbClr val="1B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8659367" y="2075688"/>
            <a:ext cx="228600" cy="228600"/>
          </a:xfrm>
          <a:prstGeom prst="rect">
            <a:avLst/>
          </a:prstGeom>
          <a:solidFill>
            <a:srgbClr val="1B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8915400" y="2075688"/>
            <a:ext cx="228600" cy="228600"/>
          </a:xfrm>
          <a:prstGeom prst="rect">
            <a:avLst/>
          </a:prstGeom>
          <a:solidFill>
            <a:srgbClr val="FF9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9171432" y="2075688"/>
            <a:ext cx="228600" cy="228600"/>
          </a:xfrm>
          <a:prstGeom prst="rect">
            <a:avLst/>
          </a:prstGeom>
          <a:solidFill>
            <a:srgbClr val="1B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ectangle 55"/>
          <p:cNvSpPr/>
          <p:nvPr/>
        </p:nvSpPr>
        <p:spPr>
          <a:xfrm>
            <a:off x="9427464" y="2075688"/>
            <a:ext cx="228600" cy="228600"/>
          </a:xfrm>
          <a:prstGeom prst="rect">
            <a:avLst/>
          </a:prstGeom>
          <a:solidFill>
            <a:srgbClr val="1B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9683496" y="2075688"/>
            <a:ext cx="228600" cy="228600"/>
          </a:xfrm>
          <a:prstGeom prst="rect">
            <a:avLst/>
          </a:prstGeom>
          <a:solidFill>
            <a:srgbClr val="38C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ectangle 57"/>
          <p:cNvSpPr/>
          <p:nvPr/>
        </p:nvSpPr>
        <p:spPr>
          <a:xfrm>
            <a:off x="9939528" y="2075688"/>
            <a:ext cx="228600" cy="228600"/>
          </a:xfrm>
          <a:prstGeom prst="rect">
            <a:avLst/>
          </a:prstGeom>
          <a:solidFill>
            <a:srgbClr val="1B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/>
          <p:cNvSpPr/>
          <p:nvPr/>
        </p:nvSpPr>
        <p:spPr>
          <a:xfrm>
            <a:off x="7635240" y="2331720"/>
            <a:ext cx="228600" cy="228600"/>
          </a:xfrm>
          <a:prstGeom prst="rect">
            <a:avLst/>
          </a:prstGeom>
          <a:solidFill>
            <a:srgbClr val="1B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ectangle 59"/>
          <p:cNvSpPr/>
          <p:nvPr/>
        </p:nvSpPr>
        <p:spPr>
          <a:xfrm>
            <a:off x="7891271" y="2331720"/>
            <a:ext cx="228600" cy="228600"/>
          </a:xfrm>
          <a:prstGeom prst="rect">
            <a:avLst/>
          </a:prstGeom>
          <a:solidFill>
            <a:srgbClr val="38C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ectangle 60"/>
          <p:cNvSpPr/>
          <p:nvPr/>
        </p:nvSpPr>
        <p:spPr>
          <a:xfrm>
            <a:off x="8147304" y="2331720"/>
            <a:ext cx="228600" cy="228600"/>
          </a:xfrm>
          <a:prstGeom prst="rect">
            <a:avLst/>
          </a:prstGeom>
          <a:solidFill>
            <a:srgbClr val="1B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ectangle 61"/>
          <p:cNvSpPr/>
          <p:nvPr/>
        </p:nvSpPr>
        <p:spPr>
          <a:xfrm>
            <a:off x="8403336" y="2331720"/>
            <a:ext cx="228600" cy="228600"/>
          </a:xfrm>
          <a:prstGeom prst="rect">
            <a:avLst/>
          </a:prstGeom>
          <a:solidFill>
            <a:srgbClr val="1B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ectangle 62"/>
          <p:cNvSpPr/>
          <p:nvPr/>
        </p:nvSpPr>
        <p:spPr>
          <a:xfrm>
            <a:off x="8659367" y="2331720"/>
            <a:ext cx="228600" cy="228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Rectangle 63"/>
          <p:cNvSpPr/>
          <p:nvPr/>
        </p:nvSpPr>
        <p:spPr>
          <a:xfrm>
            <a:off x="8915400" y="2331720"/>
            <a:ext cx="228600" cy="228600"/>
          </a:xfrm>
          <a:prstGeom prst="rect">
            <a:avLst/>
          </a:prstGeom>
          <a:solidFill>
            <a:srgbClr val="1B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Rectangle 64"/>
          <p:cNvSpPr/>
          <p:nvPr/>
        </p:nvSpPr>
        <p:spPr>
          <a:xfrm>
            <a:off x="9171432" y="2331720"/>
            <a:ext cx="228600" cy="228600"/>
          </a:xfrm>
          <a:prstGeom prst="rect">
            <a:avLst/>
          </a:prstGeom>
          <a:solidFill>
            <a:srgbClr val="1B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Rectangle 65"/>
          <p:cNvSpPr/>
          <p:nvPr/>
        </p:nvSpPr>
        <p:spPr>
          <a:xfrm>
            <a:off x="9427464" y="2331720"/>
            <a:ext cx="228600" cy="228600"/>
          </a:xfrm>
          <a:prstGeom prst="rect">
            <a:avLst/>
          </a:prstGeom>
          <a:solidFill>
            <a:srgbClr val="54C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ectangle 66"/>
          <p:cNvSpPr/>
          <p:nvPr/>
        </p:nvSpPr>
        <p:spPr>
          <a:xfrm>
            <a:off x="9683496" y="2331720"/>
            <a:ext cx="228600" cy="228600"/>
          </a:xfrm>
          <a:prstGeom prst="rect">
            <a:avLst/>
          </a:prstGeom>
          <a:solidFill>
            <a:srgbClr val="1B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Rectangle 67"/>
          <p:cNvSpPr/>
          <p:nvPr/>
        </p:nvSpPr>
        <p:spPr>
          <a:xfrm>
            <a:off x="9939528" y="2331720"/>
            <a:ext cx="228600" cy="228600"/>
          </a:xfrm>
          <a:prstGeom prst="rect">
            <a:avLst/>
          </a:prstGeom>
          <a:solidFill>
            <a:srgbClr val="1B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Rectangle 68"/>
          <p:cNvSpPr/>
          <p:nvPr/>
        </p:nvSpPr>
        <p:spPr>
          <a:xfrm>
            <a:off x="7635240" y="2587752"/>
            <a:ext cx="228600" cy="228600"/>
          </a:xfrm>
          <a:prstGeom prst="rect">
            <a:avLst/>
          </a:prstGeom>
          <a:solidFill>
            <a:srgbClr val="54C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Rectangle 69"/>
          <p:cNvSpPr/>
          <p:nvPr/>
        </p:nvSpPr>
        <p:spPr>
          <a:xfrm>
            <a:off x="7891271" y="2587752"/>
            <a:ext cx="228600" cy="228600"/>
          </a:xfrm>
          <a:prstGeom prst="rect">
            <a:avLst/>
          </a:prstGeom>
          <a:solidFill>
            <a:srgbClr val="1B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Rectangle 70"/>
          <p:cNvSpPr/>
          <p:nvPr/>
        </p:nvSpPr>
        <p:spPr>
          <a:xfrm>
            <a:off x="8147304" y="2587752"/>
            <a:ext cx="228600" cy="228600"/>
          </a:xfrm>
          <a:prstGeom prst="rect">
            <a:avLst/>
          </a:prstGeom>
          <a:solidFill>
            <a:srgbClr val="1B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Rectangle 71"/>
          <p:cNvSpPr/>
          <p:nvPr/>
        </p:nvSpPr>
        <p:spPr>
          <a:xfrm>
            <a:off x="8403336" y="2587752"/>
            <a:ext cx="228600" cy="228600"/>
          </a:xfrm>
          <a:prstGeom prst="rect">
            <a:avLst/>
          </a:prstGeom>
          <a:solidFill>
            <a:srgbClr val="FF9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Rectangle 72"/>
          <p:cNvSpPr/>
          <p:nvPr/>
        </p:nvSpPr>
        <p:spPr>
          <a:xfrm>
            <a:off x="8659367" y="2587752"/>
            <a:ext cx="228600" cy="228600"/>
          </a:xfrm>
          <a:prstGeom prst="rect">
            <a:avLst/>
          </a:prstGeom>
          <a:solidFill>
            <a:srgbClr val="1B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Rectangle 73"/>
          <p:cNvSpPr/>
          <p:nvPr/>
        </p:nvSpPr>
        <p:spPr>
          <a:xfrm>
            <a:off x="8915400" y="2587752"/>
            <a:ext cx="228600" cy="228600"/>
          </a:xfrm>
          <a:prstGeom prst="rect">
            <a:avLst/>
          </a:prstGeom>
          <a:solidFill>
            <a:srgbClr val="1B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ectangle 74"/>
          <p:cNvSpPr/>
          <p:nvPr/>
        </p:nvSpPr>
        <p:spPr>
          <a:xfrm>
            <a:off x="9171432" y="2587752"/>
            <a:ext cx="228600" cy="228600"/>
          </a:xfrm>
          <a:prstGeom prst="rect">
            <a:avLst/>
          </a:prstGeom>
          <a:solidFill>
            <a:srgbClr val="38C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Rectangle 75"/>
          <p:cNvSpPr/>
          <p:nvPr/>
        </p:nvSpPr>
        <p:spPr>
          <a:xfrm>
            <a:off x="9427464" y="2587752"/>
            <a:ext cx="228600" cy="228600"/>
          </a:xfrm>
          <a:prstGeom prst="rect">
            <a:avLst/>
          </a:prstGeom>
          <a:solidFill>
            <a:srgbClr val="1B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ectangle 76"/>
          <p:cNvSpPr/>
          <p:nvPr/>
        </p:nvSpPr>
        <p:spPr>
          <a:xfrm>
            <a:off x="9683496" y="2587752"/>
            <a:ext cx="228600" cy="228600"/>
          </a:xfrm>
          <a:prstGeom prst="rect">
            <a:avLst/>
          </a:prstGeom>
          <a:solidFill>
            <a:srgbClr val="1B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Rectangle 77"/>
          <p:cNvSpPr/>
          <p:nvPr/>
        </p:nvSpPr>
        <p:spPr>
          <a:xfrm>
            <a:off x="9939528" y="2587752"/>
            <a:ext cx="228600" cy="228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Rectangle 78"/>
          <p:cNvSpPr/>
          <p:nvPr/>
        </p:nvSpPr>
        <p:spPr>
          <a:xfrm>
            <a:off x="7635240" y="2843784"/>
            <a:ext cx="228600" cy="228600"/>
          </a:xfrm>
          <a:prstGeom prst="rect">
            <a:avLst/>
          </a:prstGeom>
          <a:solidFill>
            <a:srgbClr val="1B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Rectangle 79"/>
          <p:cNvSpPr/>
          <p:nvPr/>
        </p:nvSpPr>
        <p:spPr>
          <a:xfrm>
            <a:off x="7891271" y="2843784"/>
            <a:ext cx="228600" cy="228600"/>
          </a:xfrm>
          <a:prstGeom prst="rect">
            <a:avLst/>
          </a:prstGeom>
          <a:solidFill>
            <a:srgbClr val="1B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Rectangle 80"/>
          <p:cNvSpPr/>
          <p:nvPr/>
        </p:nvSpPr>
        <p:spPr>
          <a:xfrm>
            <a:off x="8147304" y="2843784"/>
            <a:ext cx="228600" cy="228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Rectangle 81"/>
          <p:cNvSpPr/>
          <p:nvPr/>
        </p:nvSpPr>
        <p:spPr>
          <a:xfrm>
            <a:off x="8403336" y="2843784"/>
            <a:ext cx="228600" cy="228600"/>
          </a:xfrm>
          <a:prstGeom prst="rect">
            <a:avLst/>
          </a:prstGeom>
          <a:solidFill>
            <a:srgbClr val="1B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Rectangle 82"/>
          <p:cNvSpPr/>
          <p:nvPr/>
        </p:nvSpPr>
        <p:spPr>
          <a:xfrm>
            <a:off x="8659367" y="2843784"/>
            <a:ext cx="228600" cy="228600"/>
          </a:xfrm>
          <a:prstGeom prst="rect">
            <a:avLst/>
          </a:prstGeom>
          <a:solidFill>
            <a:srgbClr val="1B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Rectangle 83"/>
          <p:cNvSpPr/>
          <p:nvPr/>
        </p:nvSpPr>
        <p:spPr>
          <a:xfrm>
            <a:off x="8915400" y="2843784"/>
            <a:ext cx="228600" cy="228600"/>
          </a:xfrm>
          <a:prstGeom prst="rect">
            <a:avLst/>
          </a:prstGeom>
          <a:solidFill>
            <a:srgbClr val="54C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Rectangle 84"/>
          <p:cNvSpPr/>
          <p:nvPr/>
        </p:nvSpPr>
        <p:spPr>
          <a:xfrm>
            <a:off x="9171432" y="2843784"/>
            <a:ext cx="228600" cy="228600"/>
          </a:xfrm>
          <a:prstGeom prst="rect">
            <a:avLst/>
          </a:prstGeom>
          <a:solidFill>
            <a:srgbClr val="1B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Rectangle 85"/>
          <p:cNvSpPr/>
          <p:nvPr/>
        </p:nvSpPr>
        <p:spPr>
          <a:xfrm>
            <a:off x="9427464" y="2843784"/>
            <a:ext cx="228600" cy="228600"/>
          </a:xfrm>
          <a:prstGeom prst="rect">
            <a:avLst/>
          </a:prstGeom>
          <a:solidFill>
            <a:srgbClr val="1B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Rectangle 86"/>
          <p:cNvSpPr/>
          <p:nvPr/>
        </p:nvSpPr>
        <p:spPr>
          <a:xfrm>
            <a:off x="9683496" y="2843784"/>
            <a:ext cx="228600" cy="228600"/>
          </a:xfrm>
          <a:prstGeom prst="rect">
            <a:avLst/>
          </a:prstGeom>
          <a:solidFill>
            <a:srgbClr val="FF9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Rectangle 87"/>
          <p:cNvSpPr/>
          <p:nvPr/>
        </p:nvSpPr>
        <p:spPr>
          <a:xfrm>
            <a:off x="9939528" y="2843784"/>
            <a:ext cx="228600" cy="228600"/>
          </a:xfrm>
          <a:prstGeom prst="rect">
            <a:avLst/>
          </a:prstGeom>
          <a:solidFill>
            <a:srgbClr val="1B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Rectangle 88"/>
          <p:cNvSpPr/>
          <p:nvPr/>
        </p:nvSpPr>
        <p:spPr>
          <a:xfrm>
            <a:off x="7635240" y="3099816"/>
            <a:ext cx="228600" cy="228600"/>
          </a:xfrm>
          <a:prstGeom prst="rect">
            <a:avLst/>
          </a:prstGeom>
          <a:solidFill>
            <a:srgbClr val="1B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Rectangle 89"/>
          <p:cNvSpPr/>
          <p:nvPr/>
        </p:nvSpPr>
        <p:spPr>
          <a:xfrm>
            <a:off x="7891271" y="3099816"/>
            <a:ext cx="228600" cy="228600"/>
          </a:xfrm>
          <a:prstGeom prst="rect">
            <a:avLst/>
          </a:prstGeom>
          <a:solidFill>
            <a:srgbClr val="FF9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Rectangle 90"/>
          <p:cNvSpPr/>
          <p:nvPr/>
        </p:nvSpPr>
        <p:spPr>
          <a:xfrm>
            <a:off x="8147304" y="3099816"/>
            <a:ext cx="228600" cy="228600"/>
          </a:xfrm>
          <a:prstGeom prst="rect">
            <a:avLst/>
          </a:prstGeom>
          <a:solidFill>
            <a:srgbClr val="1B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Rectangle 91"/>
          <p:cNvSpPr/>
          <p:nvPr/>
        </p:nvSpPr>
        <p:spPr>
          <a:xfrm>
            <a:off x="8403336" y="3099816"/>
            <a:ext cx="228600" cy="228600"/>
          </a:xfrm>
          <a:prstGeom prst="rect">
            <a:avLst/>
          </a:prstGeom>
          <a:solidFill>
            <a:srgbClr val="1B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Rectangle 92"/>
          <p:cNvSpPr/>
          <p:nvPr/>
        </p:nvSpPr>
        <p:spPr>
          <a:xfrm>
            <a:off x="8659367" y="3099816"/>
            <a:ext cx="228600" cy="228600"/>
          </a:xfrm>
          <a:prstGeom prst="rect">
            <a:avLst/>
          </a:prstGeom>
          <a:solidFill>
            <a:srgbClr val="38C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Rectangle 93"/>
          <p:cNvSpPr/>
          <p:nvPr/>
        </p:nvSpPr>
        <p:spPr>
          <a:xfrm>
            <a:off x="8915400" y="3099816"/>
            <a:ext cx="228600" cy="228600"/>
          </a:xfrm>
          <a:prstGeom prst="rect">
            <a:avLst/>
          </a:prstGeom>
          <a:solidFill>
            <a:srgbClr val="1B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Rectangle 94"/>
          <p:cNvSpPr/>
          <p:nvPr/>
        </p:nvSpPr>
        <p:spPr>
          <a:xfrm>
            <a:off x="9171432" y="3099816"/>
            <a:ext cx="228600" cy="228600"/>
          </a:xfrm>
          <a:prstGeom prst="rect">
            <a:avLst/>
          </a:prstGeom>
          <a:solidFill>
            <a:srgbClr val="1B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Rectangle 95"/>
          <p:cNvSpPr/>
          <p:nvPr/>
        </p:nvSpPr>
        <p:spPr>
          <a:xfrm>
            <a:off x="9427464" y="3099816"/>
            <a:ext cx="228600" cy="228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Rectangle 96"/>
          <p:cNvSpPr/>
          <p:nvPr/>
        </p:nvSpPr>
        <p:spPr>
          <a:xfrm>
            <a:off x="9683496" y="3099816"/>
            <a:ext cx="228600" cy="228600"/>
          </a:xfrm>
          <a:prstGeom prst="rect">
            <a:avLst/>
          </a:prstGeom>
          <a:solidFill>
            <a:srgbClr val="1B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Rectangle 97"/>
          <p:cNvSpPr/>
          <p:nvPr/>
        </p:nvSpPr>
        <p:spPr>
          <a:xfrm>
            <a:off x="9939528" y="3099816"/>
            <a:ext cx="228600" cy="228600"/>
          </a:xfrm>
          <a:prstGeom prst="rect">
            <a:avLst/>
          </a:prstGeom>
          <a:solidFill>
            <a:srgbClr val="1B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Rectangle 98"/>
          <p:cNvSpPr/>
          <p:nvPr/>
        </p:nvSpPr>
        <p:spPr>
          <a:xfrm>
            <a:off x="7635240" y="3355848"/>
            <a:ext cx="228600" cy="2286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Rectangle 99"/>
          <p:cNvSpPr/>
          <p:nvPr/>
        </p:nvSpPr>
        <p:spPr>
          <a:xfrm>
            <a:off x="7891271" y="3355848"/>
            <a:ext cx="228600" cy="228600"/>
          </a:xfrm>
          <a:prstGeom prst="rect">
            <a:avLst/>
          </a:prstGeom>
          <a:solidFill>
            <a:srgbClr val="1B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Rectangle 100"/>
          <p:cNvSpPr/>
          <p:nvPr/>
        </p:nvSpPr>
        <p:spPr>
          <a:xfrm>
            <a:off x="8147304" y="3355848"/>
            <a:ext cx="228600" cy="228600"/>
          </a:xfrm>
          <a:prstGeom prst="rect">
            <a:avLst/>
          </a:prstGeom>
          <a:solidFill>
            <a:srgbClr val="1B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Rectangle 101"/>
          <p:cNvSpPr/>
          <p:nvPr/>
        </p:nvSpPr>
        <p:spPr>
          <a:xfrm>
            <a:off x="8403336" y="3355848"/>
            <a:ext cx="228600" cy="228600"/>
          </a:xfrm>
          <a:prstGeom prst="rect">
            <a:avLst/>
          </a:prstGeom>
          <a:solidFill>
            <a:srgbClr val="54C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Rectangle 102"/>
          <p:cNvSpPr/>
          <p:nvPr/>
        </p:nvSpPr>
        <p:spPr>
          <a:xfrm>
            <a:off x="8659367" y="3355848"/>
            <a:ext cx="228600" cy="228600"/>
          </a:xfrm>
          <a:prstGeom prst="rect">
            <a:avLst/>
          </a:prstGeom>
          <a:solidFill>
            <a:srgbClr val="1B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Rectangle 103"/>
          <p:cNvSpPr/>
          <p:nvPr/>
        </p:nvSpPr>
        <p:spPr>
          <a:xfrm>
            <a:off x="8915400" y="3355848"/>
            <a:ext cx="228600" cy="228600"/>
          </a:xfrm>
          <a:prstGeom prst="rect">
            <a:avLst/>
          </a:prstGeom>
          <a:solidFill>
            <a:srgbClr val="1B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Rectangle 104"/>
          <p:cNvSpPr/>
          <p:nvPr/>
        </p:nvSpPr>
        <p:spPr>
          <a:xfrm>
            <a:off x="9171432" y="3355848"/>
            <a:ext cx="228600" cy="228600"/>
          </a:xfrm>
          <a:prstGeom prst="rect">
            <a:avLst/>
          </a:prstGeom>
          <a:solidFill>
            <a:srgbClr val="FF9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Rectangle 105"/>
          <p:cNvSpPr/>
          <p:nvPr/>
        </p:nvSpPr>
        <p:spPr>
          <a:xfrm>
            <a:off x="9427464" y="3355848"/>
            <a:ext cx="228600" cy="228600"/>
          </a:xfrm>
          <a:prstGeom prst="rect">
            <a:avLst/>
          </a:prstGeom>
          <a:solidFill>
            <a:srgbClr val="1B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Rectangle 106"/>
          <p:cNvSpPr/>
          <p:nvPr/>
        </p:nvSpPr>
        <p:spPr>
          <a:xfrm>
            <a:off x="9683496" y="3355848"/>
            <a:ext cx="228600" cy="228600"/>
          </a:xfrm>
          <a:prstGeom prst="rect">
            <a:avLst/>
          </a:prstGeom>
          <a:solidFill>
            <a:srgbClr val="1B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Rectangle 107"/>
          <p:cNvSpPr/>
          <p:nvPr/>
        </p:nvSpPr>
        <p:spPr>
          <a:xfrm>
            <a:off x="9939528" y="3355848"/>
            <a:ext cx="228600" cy="228600"/>
          </a:xfrm>
          <a:prstGeom prst="rect">
            <a:avLst/>
          </a:prstGeom>
          <a:solidFill>
            <a:srgbClr val="38C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TextBox 108"/>
          <p:cNvSpPr txBox="1"/>
          <p:nvPr/>
        </p:nvSpPr>
        <p:spPr>
          <a:xfrm>
            <a:off x="7223760" y="3753612"/>
            <a:ext cx="3383280" cy="36576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ctr"/>
            <a:r>
              <a:rPr sz="1400" b="1" dirty="0">
                <a:solidFill>
                  <a:srgbClr val="F5F8FC"/>
                </a:solidFill>
                <a:latin typeface="Aptos"/>
              </a:rPr>
              <a:t>15 × 15 canvas  •  16-color palette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995160" y="4078225"/>
            <a:ext cx="3840480" cy="36576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ctr"/>
            <a:r>
              <a:rPr sz="1300" b="0" dirty="0">
                <a:solidFill>
                  <a:srgbClr val="AAB8CA"/>
                </a:solidFill>
                <a:latin typeface="Aptos"/>
              </a:rPr>
              <a:t>Draw  •  Erase  •  Fill  •  Load  •  Save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13232" y="6126480"/>
            <a:ext cx="2286000" cy="27432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l"/>
            <a:r>
              <a:rPr sz="1000" b="0" dirty="0">
                <a:solidFill>
                  <a:srgbClr val="AAB8CA"/>
                </a:solidFill>
                <a:latin typeface="Aptos"/>
              </a:rPr>
              <a:t>Project presentation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300">
        <p14:pan dir="u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8C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840480" cy="256032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l"/>
            <a:r>
              <a:rPr sz="1000" b="1">
                <a:solidFill>
                  <a:srgbClr val="38CDDC"/>
                </a:solidFill>
                <a:latin typeface="Aptos"/>
              </a:rPr>
              <a:t>01 /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07040" cy="566928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l"/>
            <a:r>
              <a:rPr sz="2600" b="1">
                <a:solidFill>
                  <a:srgbClr val="F5F8FC"/>
                </a:solidFill>
                <a:latin typeface="Aptos"/>
              </a:rPr>
              <a:t>Project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347472"/>
            <a:ext cx="411480" cy="22860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r"/>
            <a:r>
              <a:rPr sz="1000" b="1">
                <a:solidFill>
                  <a:srgbClr val="AAB8CA"/>
                </a:solidFill>
                <a:latin typeface="Aptos"/>
              </a:rPr>
              <a:t>02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417320"/>
            <a:ext cx="6492240" cy="4526280"/>
          </a:xfrm>
          <a:prstGeom prst="roundRect">
            <a:avLst/>
          </a:prstGeom>
          <a:solidFill>
            <a:srgbClr val="161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1691640"/>
            <a:ext cx="5303520" cy="384048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l"/>
            <a:r>
              <a:rPr sz="2000" b="1">
                <a:solidFill>
                  <a:srgbClr val="F5F8FC"/>
                </a:solidFill>
                <a:latin typeface="Aptos"/>
              </a:rPr>
              <a:t>What the application does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240280"/>
            <a:ext cx="5577840" cy="246888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600">
                <a:solidFill>
                  <a:srgbClr val="F5F8FC"/>
                </a:solidFill>
                <a:latin typeface="Aptos"/>
              </a:defRPr>
            </a:pPr>
            <a:r>
              <a:t>•  Represents a drawing canvas as a 15 × 15 grid.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600">
                <a:solidFill>
                  <a:srgbClr val="F5F8FC"/>
                </a:solidFill>
                <a:latin typeface="Aptos"/>
              </a:defRPr>
            </a:pPr>
            <a:r>
              <a:t>•  Uses a fixed 16-color palette and menu-driven interaction.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600">
                <a:solidFill>
                  <a:srgbClr val="F5F8FC"/>
                </a:solidFill>
                <a:latin typeface="Aptos"/>
              </a:defRPr>
            </a:pPr>
            <a:r>
              <a:t>•  Supports pixel drawing, erasing, and color-region filling.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600">
                <a:solidFill>
                  <a:srgbClr val="F5F8FC"/>
                </a:solidFill>
                <a:latin typeface="Aptos"/>
              </a:defRPr>
            </a:pPr>
            <a:r>
              <a:t>•  Demonstrates 2D arrays, functions, loops, conditions, and input handling.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4892040"/>
            <a:ext cx="1828800" cy="27432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l"/>
            <a:r>
              <a:rPr sz="1200" b="1">
                <a:solidFill>
                  <a:srgbClr val="38CDDC"/>
                </a:solidFill>
                <a:latin typeface="Aptos"/>
              </a:rPr>
              <a:t>Core structure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5257800"/>
            <a:ext cx="1170432" cy="457200"/>
          </a:xfrm>
          <a:prstGeom prst="roundRect">
            <a:avLst/>
          </a:prstGeom>
          <a:solidFill>
            <a:srgbClr val="1B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68680" y="5376672"/>
            <a:ext cx="1170432" cy="18288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ctr"/>
            <a:r>
              <a:rPr sz="1100" b="1">
                <a:solidFill>
                  <a:srgbClr val="38CDDC"/>
                </a:solidFill>
                <a:latin typeface="Aptos"/>
              </a:rPr>
              <a:t>Canvas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20824" y="5376672"/>
            <a:ext cx="219456" cy="18288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l"/>
            <a:r>
              <a:rPr sz="1100" b="1">
                <a:solidFill>
                  <a:srgbClr val="AAB8CA"/>
                </a:solidFill>
                <a:latin typeface="Aptos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258568" y="5257800"/>
            <a:ext cx="1170432" cy="457200"/>
          </a:xfrm>
          <a:prstGeom prst="roundRect">
            <a:avLst/>
          </a:prstGeom>
          <a:solidFill>
            <a:srgbClr val="1B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258568" y="5376672"/>
            <a:ext cx="1170432" cy="18288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ctr"/>
            <a:r>
              <a:rPr sz="1100" b="1">
                <a:solidFill>
                  <a:srgbClr val="FF9748"/>
                </a:solidFill>
                <a:latin typeface="Aptos"/>
              </a:rPr>
              <a:t>Tools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10711" y="5376672"/>
            <a:ext cx="219456" cy="18288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l"/>
            <a:r>
              <a:rPr sz="1100" b="1">
                <a:solidFill>
                  <a:srgbClr val="AAB8CA"/>
                </a:solidFill>
                <a:latin typeface="Aptos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48456" y="5257800"/>
            <a:ext cx="1170432" cy="457200"/>
          </a:xfrm>
          <a:prstGeom prst="roundRect">
            <a:avLst/>
          </a:prstGeom>
          <a:solidFill>
            <a:srgbClr val="1B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648456" y="5376672"/>
            <a:ext cx="1170432" cy="18288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ctr"/>
            <a:r>
              <a:rPr sz="1100" b="1">
                <a:solidFill>
                  <a:srgbClr val="54C991"/>
                </a:solidFill>
                <a:latin typeface="Aptos"/>
              </a:rPr>
              <a:t>Input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0600" y="5376672"/>
            <a:ext cx="219456" cy="18288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l"/>
            <a:r>
              <a:rPr sz="1100" b="1">
                <a:solidFill>
                  <a:srgbClr val="AAB8CA"/>
                </a:solidFill>
                <a:latin typeface="Aptos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38344" y="5257800"/>
            <a:ext cx="1170432" cy="457200"/>
          </a:xfrm>
          <a:prstGeom prst="roundRect">
            <a:avLst/>
          </a:prstGeom>
          <a:solidFill>
            <a:srgbClr val="1B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038344" y="5376672"/>
            <a:ext cx="1170432" cy="18288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ctr"/>
            <a:r>
              <a:rPr sz="1100" b="1">
                <a:solidFill>
                  <a:srgbClr val="F5F8FC"/>
                </a:solidFill>
                <a:latin typeface="Aptos"/>
              </a:rPr>
              <a:t>Render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42048" y="1408176"/>
            <a:ext cx="4352544" cy="2103120"/>
          </a:xfrm>
          <a:prstGeom prst="roundRect">
            <a:avLst/>
          </a:prstGeom>
          <a:solidFill>
            <a:srgbClr val="1B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Picture 21" descr="slide2_im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7120" y="1505827"/>
            <a:ext cx="3931920" cy="182919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405178" y="3327750"/>
            <a:ext cx="1995803" cy="190821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l"/>
            <a:r>
              <a:rPr sz="1000" b="1" dirty="0">
                <a:solidFill>
                  <a:srgbClr val="AAB8CA"/>
                </a:solidFill>
                <a:latin typeface="Aptos"/>
              </a:rPr>
              <a:t>Console interface</a:t>
            </a:r>
            <a:r>
              <a:rPr lang="en-US" sz="1000" b="1" dirty="0">
                <a:solidFill>
                  <a:srgbClr val="AAB8CA"/>
                </a:solidFill>
                <a:latin typeface="Aptos"/>
              </a:rPr>
              <a:t>:</a:t>
            </a:r>
            <a:r>
              <a:rPr sz="1000" b="1" dirty="0">
                <a:solidFill>
                  <a:srgbClr val="AAB8CA"/>
                </a:solidFill>
                <a:latin typeface="Aptos"/>
              </a:rPr>
              <a:t> 15 × 15 </a:t>
            </a:r>
            <a:r>
              <a:rPr lang="en-US" sz="1000" b="1" dirty="0">
                <a:solidFill>
                  <a:srgbClr val="AAB8CA"/>
                </a:solidFill>
                <a:latin typeface="Aptos"/>
              </a:rPr>
              <a:t>C</a:t>
            </a:r>
            <a:r>
              <a:rPr sz="1000" b="1" dirty="0">
                <a:solidFill>
                  <a:srgbClr val="AAB8CA"/>
                </a:solidFill>
                <a:latin typeface="Aptos"/>
              </a:rPr>
              <a:t>anvas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0" y="3749039"/>
            <a:ext cx="4206240" cy="2148840"/>
          </a:xfrm>
          <a:prstGeom prst="roundRect">
            <a:avLst/>
          </a:prstGeom>
          <a:solidFill>
            <a:srgbClr val="161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589520" y="4069080"/>
            <a:ext cx="1178400" cy="221599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l"/>
            <a:r>
              <a:rPr sz="1200" b="1" dirty="0">
                <a:solidFill>
                  <a:srgbClr val="38CDDC"/>
                </a:solidFill>
                <a:latin typeface="Aptos"/>
              </a:rPr>
              <a:t>Design </a:t>
            </a:r>
            <a:r>
              <a:rPr lang="en-US" sz="1200" b="1" dirty="0">
                <a:solidFill>
                  <a:srgbClr val="38CDDC"/>
                </a:solidFill>
                <a:latin typeface="Aptos"/>
              </a:rPr>
              <a:t>P</a:t>
            </a:r>
            <a:r>
              <a:rPr sz="1200" b="1" dirty="0">
                <a:solidFill>
                  <a:srgbClr val="38CDDC"/>
                </a:solidFill>
                <a:latin typeface="Aptos"/>
              </a:rPr>
              <a:t>rinciple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0" y="4480560"/>
            <a:ext cx="3733800" cy="683264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/>
            <a:r>
              <a:rPr lang="en-US" sz="2100" b="1" dirty="0">
                <a:solidFill>
                  <a:srgbClr val="F5F8FC"/>
                </a:solidFill>
                <a:latin typeface="Aptos"/>
              </a:rPr>
              <a:t>K</a:t>
            </a:r>
            <a:r>
              <a:rPr sz="2100" b="1" dirty="0">
                <a:solidFill>
                  <a:srgbClr val="F5F8FC"/>
                </a:solidFill>
                <a:latin typeface="Aptos"/>
              </a:rPr>
              <a:t>eep editing operations small, explicit, and easy to validate.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9521" y="5326732"/>
            <a:ext cx="3733800" cy="406265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/>
            <a:r>
              <a:rPr lang="en-US" sz="1200" dirty="0">
                <a:solidFill>
                  <a:srgbClr val="AAB8CA"/>
                </a:solidFill>
                <a:latin typeface="Aptos"/>
              </a:rPr>
              <a:t>M</a:t>
            </a:r>
            <a:r>
              <a:rPr sz="1200" b="0" dirty="0">
                <a:solidFill>
                  <a:srgbClr val="AAB8CA"/>
                </a:solidFill>
                <a:latin typeface="Aptos"/>
              </a:rPr>
              <a:t>ouse interaction selects tools, colors, and canvas positions.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14:ferris dir="l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8C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840480" cy="256032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l"/>
            <a:r>
              <a:rPr sz="1000" b="1">
                <a:solidFill>
                  <a:srgbClr val="38CDDC"/>
                </a:solidFill>
                <a:latin typeface="Aptos"/>
              </a:rPr>
              <a:t>02 / EDITING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07040" cy="566928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l"/>
            <a:r>
              <a:rPr sz="2600" b="1">
                <a:solidFill>
                  <a:srgbClr val="F5F8FC"/>
                </a:solidFill>
                <a:latin typeface="Aptos"/>
              </a:rPr>
              <a:t>Editing Tools — Draw &amp; Erase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347472"/>
            <a:ext cx="411480" cy="22860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r"/>
            <a:r>
              <a:rPr sz="1000" b="1">
                <a:solidFill>
                  <a:srgbClr val="AAB8CA"/>
                </a:solidFill>
                <a:latin typeface="Aptos"/>
              </a:rPr>
              <a:t>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417320"/>
            <a:ext cx="5440680" cy="4526280"/>
          </a:xfrm>
          <a:prstGeom prst="roundRect">
            <a:avLst/>
          </a:prstGeom>
          <a:solidFill>
            <a:srgbClr val="161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868680" y="1691640"/>
            <a:ext cx="1051560" cy="329184"/>
          </a:xfrm>
          <a:prstGeom prst="roundRect">
            <a:avLst/>
          </a:prstGeom>
          <a:solidFill>
            <a:srgbClr val="38C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1746132"/>
            <a:ext cx="1051560" cy="22860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ctr"/>
            <a:r>
              <a:rPr sz="1100" b="1" dirty="0">
                <a:solidFill>
                  <a:srgbClr val="080C16"/>
                </a:solidFill>
                <a:latin typeface="Aptos"/>
              </a:rPr>
              <a:t>DRAW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76272"/>
            <a:ext cx="4389120" cy="384048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l"/>
            <a:r>
              <a:rPr sz="2200" b="1">
                <a:solidFill>
                  <a:srgbClr val="F5F8FC"/>
                </a:solidFill>
                <a:latin typeface="Aptos"/>
              </a:rPr>
              <a:t>Paint one pixel at a time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743200"/>
            <a:ext cx="4389120" cy="201168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500">
                <a:solidFill>
                  <a:srgbClr val="F5F8FC"/>
                </a:solidFill>
                <a:latin typeface="Aptos"/>
              </a:defRPr>
            </a:pPr>
            <a:r>
              <a:t>•  Select a row and column through mouse input.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500">
                <a:solidFill>
                  <a:srgbClr val="F5F8FC"/>
                </a:solidFill>
                <a:latin typeface="Aptos"/>
              </a:defRPr>
            </a:pPr>
            <a:r>
              <a:t>•  Choose the active color from the palette.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500">
                <a:solidFill>
                  <a:srgbClr val="F5F8FC"/>
                </a:solidFill>
                <a:latin typeface="Aptos"/>
              </a:defRPr>
            </a:pPr>
            <a:r>
              <a:t>•  Write the color value into the selected cell.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500">
                <a:solidFill>
                  <a:srgbClr val="F5F8FC"/>
                </a:solidFill>
                <a:latin typeface="Aptos"/>
              </a:defRPr>
            </a:pPr>
            <a:r>
              <a:t>•  Validate coordinates before changing the canvas.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37584" y="5580263"/>
            <a:ext cx="3299365" cy="221599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l"/>
            <a:r>
              <a:rPr sz="1200" b="0" dirty="0">
                <a:solidFill>
                  <a:srgbClr val="AAB8CA"/>
                </a:solidFill>
                <a:latin typeface="Aptos"/>
              </a:rPr>
              <a:t>Example: </a:t>
            </a:r>
            <a:r>
              <a:rPr lang="en-US" sz="1200" b="0" dirty="0">
                <a:solidFill>
                  <a:srgbClr val="AAB8CA"/>
                </a:solidFill>
                <a:latin typeface="Aptos"/>
              </a:rPr>
              <a:t>T</a:t>
            </a:r>
            <a:r>
              <a:rPr sz="1200" b="0" dirty="0">
                <a:solidFill>
                  <a:srgbClr val="AAB8CA"/>
                </a:solidFill>
                <a:latin typeface="Aptos"/>
              </a:rPr>
              <a:t>he number “5” is drawn on the canvas.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417320"/>
            <a:ext cx="5257800" cy="4526280"/>
          </a:xfrm>
          <a:prstGeom prst="roundRect">
            <a:avLst/>
          </a:prstGeom>
          <a:solidFill>
            <a:srgbClr val="161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6565392" y="1691640"/>
            <a:ext cx="1143000" cy="329184"/>
          </a:xfrm>
          <a:prstGeom prst="roundRect">
            <a:avLst/>
          </a:prstGeom>
          <a:solidFill>
            <a:srgbClr val="FF9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65392" y="1751076"/>
            <a:ext cx="1143000" cy="22860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ctr"/>
            <a:r>
              <a:rPr sz="1100" b="1" dirty="0">
                <a:solidFill>
                  <a:srgbClr val="080C16"/>
                </a:solidFill>
                <a:latin typeface="Aptos"/>
              </a:rPr>
              <a:t>ERASE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65392" y="2176272"/>
            <a:ext cx="4389120" cy="384048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l"/>
            <a:r>
              <a:rPr sz="2200" b="1">
                <a:solidFill>
                  <a:srgbClr val="F5F8FC"/>
                </a:solidFill>
                <a:latin typeface="Aptos"/>
              </a:rPr>
              <a:t>Reset a selected cell to blank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65392" y="2743200"/>
            <a:ext cx="4389120" cy="155448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500">
                <a:solidFill>
                  <a:srgbClr val="F5F8FC"/>
                </a:solidFill>
                <a:latin typeface="Aptos"/>
              </a:defRPr>
            </a:pPr>
            <a:r>
              <a:t>•  Select the target position using mouse input.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500">
                <a:solidFill>
                  <a:srgbClr val="F5F8FC"/>
                </a:solidFill>
                <a:latin typeface="Aptos"/>
              </a:defRPr>
            </a:pPr>
            <a:r>
              <a:t>•  Reset the selected pixel to zero.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500">
                <a:solidFill>
                  <a:srgbClr val="F5F8FC"/>
                </a:solidFill>
                <a:latin typeface="Aptos"/>
              </a:defRPr>
            </a:pPr>
            <a:r>
              <a:t>•  Apply boundary validation before editing.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01384" y="4041648"/>
            <a:ext cx="4672584" cy="1426463"/>
          </a:xfrm>
          <a:prstGeom prst="roundRect">
            <a:avLst/>
          </a:prstGeom>
          <a:solidFill>
            <a:srgbClr val="1B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934089" y="5595056"/>
            <a:ext cx="2124311" cy="221599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/>
            <a:r>
              <a:rPr sz="1200" b="1" dirty="0">
                <a:solidFill>
                  <a:srgbClr val="AAB8CA"/>
                </a:solidFill>
                <a:latin typeface="Aptos"/>
              </a:rPr>
              <a:t>Example</a:t>
            </a:r>
            <a:r>
              <a:rPr lang="en-US" sz="1000" b="1" dirty="0">
                <a:solidFill>
                  <a:srgbClr val="AAB8CA"/>
                </a:solidFill>
                <a:latin typeface="Aptos"/>
              </a:rPr>
              <a:t>:</a:t>
            </a:r>
            <a:r>
              <a:rPr sz="1000" b="1" dirty="0">
                <a:solidFill>
                  <a:srgbClr val="AAB8CA"/>
                </a:solidFill>
                <a:latin typeface="Aptos"/>
              </a:rPr>
              <a:t> </a:t>
            </a:r>
            <a:r>
              <a:rPr lang="en-US" sz="1000" b="1" dirty="0">
                <a:solidFill>
                  <a:srgbClr val="AAB8CA"/>
                </a:solidFill>
                <a:latin typeface="Aptos"/>
              </a:rPr>
              <a:t>E</a:t>
            </a:r>
            <a:r>
              <a:rPr sz="1000" b="1" dirty="0">
                <a:solidFill>
                  <a:srgbClr val="AAB8CA"/>
                </a:solidFill>
                <a:latin typeface="Aptos"/>
              </a:rPr>
              <a:t>rased </a:t>
            </a:r>
            <a:r>
              <a:rPr lang="en-US" sz="1000" b="1" dirty="0">
                <a:solidFill>
                  <a:srgbClr val="AAB8CA"/>
                </a:solidFill>
                <a:latin typeface="Aptos"/>
              </a:rPr>
              <a:t>R</a:t>
            </a:r>
            <a:r>
              <a:rPr sz="1000" b="1" dirty="0">
                <a:solidFill>
                  <a:srgbClr val="AAB8CA"/>
                </a:solidFill>
                <a:latin typeface="Aptos"/>
              </a:rPr>
              <a:t>ows </a:t>
            </a:r>
            <a:r>
              <a:rPr lang="en-US" sz="1000" b="1" dirty="0">
                <a:solidFill>
                  <a:srgbClr val="AAB8CA"/>
                </a:solidFill>
                <a:latin typeface="Aptos"/>
              </a:rPr>
              <a:t>&amp;</a:t>
            </a:r>
            <a:r>
              <a:rPr sz="1000" b="1" dirty="0">
                <a:solidFill>
                  <a:srgbClr val="AAB8CA"/>
                </a:solidFill>
                <a:latin typeface="Aptos"/>
              </a:rPr>
              <a:t> </a:t>
            </a:r>
            <a:r>
              <a:rPr lang="en-US" sz="1000" b="1" dirty="0">
                <a:solidFill>
                  <a:srgbClr val="AAB8CA"/>
                </a:solidFill>
                <a:latin typeface="Aptos"/>
              </a:rPr>
              <a:t>C</a:t>
            </a:r>
            <a:r>
              <a:rPr sz="1000" b="1" dirty="0">
                <a:solidFill>
                  <a:srgbClr val="AAB8CA"/>
                </a:solidFill>
                <a:latin typeface="Aptos"/>
              </a:rPr>
              <a:t>olumns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0EB60D8D-EE7D-CFD7-2FC4-C80D74E9F9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1315" y="4088383"/>
            <a:ext cx="4761389" cy="1511939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CFDD59E1-ED23-1E14-5FDA-55FA59F8F0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5642" y="4175012"/>
            <a:ext cx="2643251" cy="1246239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6B456606-DEB6-43C6-AABA-6690173B5D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70913" y="4148888"/>
            <a:ext cx="2643251" cy="121198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conveyor dir="l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8C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840480" cy="256032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l"/>
            <a:r>
              <a:rPr sz="1000" b="1">
                <a:solidFill>
                  <a:srgbClr val="38CDDC"/>
                </a:solidFill>
                <a:latin typeface="Aptos"/>
              </a:rPr>
              <a:t>03 / REGION EDITING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07040" cy="566928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l"/>
            <a:r>
              <a:rPr sz="2600" b="1">
                <a:solidFill>
                  <a:srgbClr val="F5F8FC"/>
                </a:solidFill>
                <a:latin typeface="Aptos"/>
              </a:rPr>
              <a:t>Editing Tools — Fill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347472"/>
            <a:ext cx="411480" cy="22860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r"/>
            <a:r>
              <a:rPr sz="1000" b="1">
                <a:solidFill>
                  <a:srgbClr val="AAB8CA"/>
                </a:solidFill>
                <a:latin typeface="Aptos"/>
              </a:rPr>
              <a:t>04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417320"/>
            <a:ext cx="5074920" cy="4526280"/>
          </a:xfrm>
          <a:prstGeom prst="roundRect">
            <a:avLst/>
          </a:prstGeom>
          <a:solidFill>
            <a:srgbClr val="161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868680" y="1691640"/>
            <a:ext cx="960120" cy="329184"/>
          </a:xfrm>
          <a:prstGeom prst="roundRect">
            <a:avLst/>
          </a:prstGeom>
          <a:solidFill>
            <a:srgbClr val="54C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1746504"/>
            <a:ext cx="960120" cy="22860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ctr"/>
            <a:r>
              <a:rPr sz="1100" b="1" dirty="0">
                <a:solidFill>
                  <a:srgbClr val="080C16"/>
                </a:solidFill>
                <a:latin typeface="Aptos"/>
              </a:rPr>
              <a:t>FILL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76272"/>
            <a:ext cx="4160520" cy="530352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l"/>
            <a:r>
              <a:rPr sz="2400" b="1">
                <a:solidFill>
                  <a:srgbClr val="F5F8FC"/>
                </a:solidFill>
                <a:latin typeface="Aptos"/>
              </a:rPr>
              <a:t>Change a connected color region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880360"/>
            <a:ext cx="4160520" cy="192024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500">
                <a:solidFill>
                  <a:srgbClr val="F5F8FC"/>
                </a:solidFill>
                <a:latin typeface="Aptos"/>
              </a:defRPr>
            </a:pPr>
            <a:r>
              <a:t>•  Select a target color and replacement color.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500">
                <a:solidFill>
                  <a:srgbClr val="F5F8FC"/>
                </a:solidFill>
                <a:latin typeface="Aptos"/>
              </a:defRPr>
            </a:pPr>
            <a:r>
              <a:t>•  Find matching pixels in the selected region.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500">
                <a:solidFill>
                  <a:srgbClr val="F5F8FC"/>
                </a:solidFill>
                <a:latin typeface="Aptos"/>
              </a:defRPr>
            </a:pPr>
            <a:r>
              <a:t>•  Replace the existing color with the new color.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500">
                <a:solidFill>
                  <a:srgbClr val="F5F8FC"/>
                </a:solidFill>
                <a:latin typeface="Aptos"/>
              </a:defRPr>
            </a:pPr>
            <a:r>
              <a:t>•  Useful for quickly recoloring repeated areas.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5257800"/>
            <a:ext cx="4076885" cy="221599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l"/>
            <a:r>
              <a:rPr sz="1200" b="0" dirty="0">
                <a:solidFill>
                  <a:srgbClr val="AAB8CA"/>
                </a:solidFill>
                <a:latin typeface="Aptos"/>
              </a:rPr>
              <a:t>Source </a:t>
            </a:r>
            <a:r>
              <a:rPr lang="en-US" sz="1200" b="0" dirty="0">
                <a:solidFill>
                  <a:srgbClr val="AAB8CA"/>
                </a:solidFill>
                <a:latin typeface="Aptos"/>
              </a:rPr>
              <a:t>E</a:t>
            </a:r>
            <a:r>
              <a:rPr sz="1200" b="0" dirty="0">
                <a:solidFill>
                  <a:srgbClr val="AAB8CA"/>
                </a:solidFill>
                <a:latin typeface="Aptos"/>
              </a:rPr>
              <a:t>xample: </a:t>
            </a:r>
            <a:r>
              <a:rPr lang="en-US" sz="1200" b="0" dirty="0">
                <a:solidFill>
                  <a:srgbClr val="AAB8CA"/>
                </a:solidFill>
                <a:latin typeface="Aptos"/>
              </a:rPr>
              <a:t>S</a:t>
            </a:r>
            <a:r>
              <a:rPr sz="1200" b="0" dirty="0">
                <a:solidFill>
                  <a:srgbClr val="AAB8CA"/>
                </a:solidFill>
                <a:latin typeface="Aptos"/>
              </a:rPr>
              <a:t>ame-</a:t>
            </a:r>
            <a:r>
              <a:rPr lang="en-US" sz="1200" b="0" dirty="0">
                <a:solidFill>
                  <a:srgbClr val="AAB8CA"/>
                </a:solidFill>
                <a:latin typeface="Aptos"/>
              </a:rPr>
              <a:t>C</a:t>
            </a:r>
            <a:r>
              <a:rPr sz="1200" b="0" dirty="0">
                <a:solidFill>
                  <a:srgbClr val="AAB8CA"/>
                </a:solidFill>
                <a:latin typeface="Aptos"/>
              </a:rPr>
              <a:t>olored pixels are changed to orange.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16168" y="1344168"/>
            <a:ext cx="5632704" cy="2660904"/>
          </a:xfrm>
          <a:prstGeom prst="roundRect">
            <a:avLst/>
          </a:prstGeom>
          <a:solidFill>
            <a:srgbClr val="1B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slide5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6960" y="1426112"/>
            <a:ext cx="5166360" cy="236791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086229" y="3804139"/>
            <a:ext cx="1423531" cy="190821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r>
              <a:rPr lang="en-US" sz="1000" b="1" dirty="0">
                <a:solidFill>
                  <a:srgbClr val="AAB8CA"/>
                </a:solidFill>
                <a:latin typeface="Aptos"/>
              </a:rPr>
              <a:t>E</a:t>
            </a:r>
            <a:r>
              <a:rPr sz="1000" b="1" dirty="0">
                <a:solidFill>
                  <a:srgbClr val="AAB8CA"/>
                </a:solidFill>
                <a:latin typeface="Aptos"/>
              </a:rPr>
              <a:t>xample</a:t>
            </a:r>
            <a:r>
              <a:rPr lang="en-US" sz="1000" b="1" dirty="0">
                <a:solidFill>
                  <a:srgbClr val="AAB8CA"/>
                </a:solidFill>
                <a:latin typeface="Aptos"/>
              </a:rPr>
              <a:t>: Fill Operation</a:t>
            </a:r>
            <a:endParaRPr sz="1000" b="1" dirty="0">
              <a:solidFill>
                <a:srgbClr val="AAB8CA"/>
              </a:solidFill>
              <a:latin typeface="Aptos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5989320" y="4224528"/>
            <a:ext cx="5486400" cy="1719072"/>
          </a:xfrm>
          <a:prstGeom prst="roundRect">
            <a:avLst/>
          </a:prstGeom>
          <a:solidFill>
            <a:srgbClr val="161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09360" y="4507992"/>
            <a:ext cx="1280160" cy="22860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l"/>
            <a:r>
              <a:rPr sz="1200" b="1">
                <a:solidFill>
                  <a:srgbClr val="38CDDC"/>
                </a:solidFill>
                <a:latin typeface="Aptos"/>
              </a:rPr>
              <a:t>Operation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4901184"/>
            <a:ext cx="1325880" cy="27432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ctr"/>
            <a:r>
              <a:rPr sz="1400" b="1">
                <a:solidFill>
                  <a:srgbClr val="AAB8CA"/>
                </a:solidFill>
                <a:latin typeface="Aptos"/>
              </a:rPr>
              <a:t>Target color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4901184"/>
            <a:ext cx="1325880" cy="27432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ctr"/>
            <a:r>
              <a:rPr sz="1400" b="1">
                <a:solidFill>
                  <a:srgbClr val="F5F8FC"/>
                </a:solidFill>
                <a:latin typeface="Aptos"/>
              </a:rPr>
              <a:t>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09760" y="4901184"/>
            <a:ext cx="1325880" cy="27432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ctr"/>
            <a:r>
              <a:rPr sz="1400" b="1">
                <a:solidFill>
                  <a:srgbClr val="FF9748"/>
                </a:solidFill>
                <a:latin typeface="Aptos"/>
              </a:rPr>
              <a:t>Replacement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5394960"/>
            <a:ext cx="4846320" cy="27432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ctr"/>
            <a:r>
              <a:rPr sz="1200" b="0">
                <a:solidFill>
                  <a:srgbClr val="AAB8CA"/>
                </a:solidFill>
                <a:latin typeface="Aptos"/>
              </a:rPr>
              <a:t>One selection can update multiple matching cells.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14:prism isContent="1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8C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840480" cy="256032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l"/>
            <a:r>
              <a:rPr sz="1000" b="1">
                <a:solidFill>
                  <a:srgbClr val="38CDDC"/>
                </a:solidFill>
                <a:latin typeface="Aptos"/>
              </a:rPr>
              <a:t>04 / FILE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07040" cy="566928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l"/>
            <a:r>
              <a:rPr sz="2600" b="1">
                <a:solidFill>
                  <a:srgbClr val="F5F8FC"/>
                </a:solidFill>
                <a:latin typeface="Aptos"/>
              </a:rPr>
              <a:t>Save &amp; Load Images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347472"/>
            <a:ext cx="411480" cy="22860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r"/>
            <a:r>
              <a:rPr sz="1000" b="1">
                <a:solidFill>
                  <a:srgbClr val="AAB8CA"/>
                </a:solidFill>
                <a:latin typeface="Aptos"/>
              </a:rPr>
              <a:t>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" y="1435607"/>
            <a:ext cx="5724144" cy="2752344"/>
          </a:xfrm>
          <a:prstGeom prst="roundRect">
            <a:avLst/>
          </a:prstGeom>
          <a:solidFill>
            <a:srgbClr val="1B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slide6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0438" y="1510694"/>
            <a:ext cx="5143500" cy="240311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071388" y="3909268"/>
            <a:ext cx="2922851" cy="221599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l"/>
            <a:r>
              <a:rPr sz="1200" b="1" dirty="0">
                <a:solidFill>
                  <a:srgbClr val="AAB8CA"/>
                </a:solidFill>
                <a:latin typeface="Aptos"/>
              </a:rPr>
              <a:t>Loaded </a:t>
            </a:r>
            <a:r>
              <a:rPr lang="en-US" sz="1200" b="1" dirty="0">
                <a:solidFill>
                  <a:srgbClr val="AAB8CA"/>
                </a:solidFill>
                <a:latin typeface="Aptos"/>
              </a:rPr>
              <a:t>I</a:t>
            </a:r>
            <a:r>
              <a:rPr sz="1200" b="1" dirty="0">
                <a:solidFill>
                  <a:srgbClr val="AAB8CA"/>
                </a:solidFill>
                <a:latin typeface="Aptos"/>
              </a:rPr>
              <a:t>mage represented on the </a:t>
            </a:r>
            <a:r>
              <a:rPr lang="en-US" sz="1200" b="1" dirty="0">
                <a:solidFill>
                  <a:srgbClr val="AAB8CA"/>
                </a:solidFill>
                <a:latin typeface="Aptos"/>
              </a:rPr>
              <a:t>C</a:t>
            </a:r>
            <a:r>
              <a:rPr sz="1200" b="1" dirty="0">
                <a:solidFill>
                  <a:srgbClr val="AAB8CA"/>
                </a:solidFill>
                <a:latin typeface="Aptos"/>
              </a:rPr>
              <a:t>anvas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4434840"/>
            <a:ext cx="5577840" cy="1417320"/>
          </a:xfrm>
          <a:prstGeom prst="roundRect">
            <a:avLst/>
          </a:prstGeom>
          <a:solidFill>
            <a:srgbClr val="161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60120" y="4736592"/>
            <a:ext cx="914400" cy="27432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l"/>
            <a:r>
              <a:rPr sz="1200" b="1">
                <a:solidFill>
                  <a:srgbClr val="38CDDC"/>
                </a:solidFill>
                <a:latin typeface="Aptos"/>
              </a:rPr>
              <a:t>LOAD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1" y="5074920"/>
            <a:ext cx="5135880" cy="498598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/>
            <a:r>
              <a:rPr lang="en-US" sz="1500" dirty="0">
                <a:solidFill>
                  <a:srgbClr val="F5F8FC"/>
                </a:solidFill>
                <a:latin typeface="Aptos"/>
              </a:rPr>
              <a:t>S</a:t>
            </a:r>
            <a:r>
              <a:rPr sz="1500" b="0" dirty="0">
                <a:solidFill>
                  <a:srgbClr val="F5F8FC"/>
                </a:solidFill>
                <a:latin typeface="Aptos"/>
              </a:rPr>
              <a:t>elect an image from the computer and map it to the 15 × 15 </a:t>
            </a:r>
            <a:r>
              <a:rPr lang="en-US" sz="1500" b="0" dirty="0">
                <a:solidFill>
                  <a:srgbClr val="F5F8FC"/>
                </a:solidFill>
                <a:latin typeface="Aptos"/>
              </a:rPr>
              <a:t>C</a:t>
            </a:r>
            <a:r>
              <a:rPr sz="1500" b="0" dirty="0">
                <a:solidFill>
                  <a:srgbClr val="F5F8FC"/>
                </a:solidFill>
                <a:latin typeface="Aptos"/>
              </a:rPr>
              <a:t>anvas.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1508760"/>
            <a:ext cx="4983480" cy="4343400"/>
          </a:xfrm>
          <a:prstGeom prst="roundRect">
            <a:avLst/>
          </a:prstGeom>
          <a:solidFill>
            <a:srgbClr val="161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0" y="1783080"/>
            <a:ext cx="1625573" cy="34471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l"/>
            <a:r>
              <a:rPr sz="2000" b="1" dirty="0">
                <a:solidFill>
                  <a:srgbClr val="F5F8FC"/>
                </a:solidFill>
                <a:latin typeface="Aptos"/>
              </a:rPr>
              <a:t>File </a:t>
            </a:r>
            <a:r>
              <a:rPr lang="en-US" sz="2000" b="1" dirty="0">
                <a:solidFill>
                  <a:srgbClr val="F5F8FC"/>
                </a:solidFill>
                <a:latin typeface="Aptos"/>
              </a:rPr>
              <a:t>W</a:t>
            </a:r>
            <a:r>
              <a:rPr sz="2000" b="1" dirty="0">
                <a:solidFill>
                  <a:srgbClr val="F5F8FC"/>
                </a:solidFill>
                <a:latin typeface="Aptos"/>
              </a:rPr>
              <a:t>orkflow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76288" y="2331720"/>
            <a:ext cx="411480" cy="292608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l"/>
            <a:r>
              <a:rPr sz="1100" b="1">
                <a:solidFill>
                  <a:srgbClr val="38CDDC"/>
                </a:solidFill>
                <a:latin typeface="Aptos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52360" y="2313432"/>
            <a:ext cx="3337560" cy="36576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l"/>
            <a:r>
              <a:rPr sz="1600" b="1">
                <a:solidFill>
                  <a:srgbClr val="F5F8FC"/>
                </a:solidFill>
                <a:latin typeface="Aptos"/>
              </a:rPr>
              <a:t>Select image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68312" y="2642615"/>
            <a:ext cx="18288" cy="384048"/>
          </a:xfrm>
          <a:prstGeom prst="rect">
            <a:avLst/>
          </a:prstGeom>
          <a:solidFill>
            <a:srgbClr val="3C4B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876288" y="3081527"/>
            <a:ext cx="411480" cy="292608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l"/>
            <a:r>
              <a:rPr sz="1100" b="1">
                <a:solidFill>
                  <a:srgbClr val="FF9748"/>
                </a:solidFill>
                <a:latin typeface="Aptos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52360" y="3063239"/>
            <a:ext cx="3337560" cy="36576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l"/>
            <a:r>
              <a:rPr sz="1600" b="1">
                <a:solidFill>
                  <a:srgbClr val="F5F8FC"/>
                </a:solidFill>
                <a:latin typeface="Aptos"/>
              </a:rPr>
              <a:t>Render image to cells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68312" y="3392423"/>
            <a:ext cx="18288" cy="384048"/>
          </a:xfrm>
          <a:prstGeom prst="rect">
            <a:avLst/>
          </a:prstGeom>
          <a:solidFill>
            <a:srgbClr val="3C4B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876288" y="3831335"/>
            <a:ext cx="411480" cy="292608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l"/>
            <a:r>
              <a:rPr sz="1100" b="1">
                <a:solidFill>
                  <a:srgbClr val="54C991"/>
                </a:solidFill>
                <a:latin typeface="Aptos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52360" y="3813048"/>
            <a:ext cx="3337560" cy="36576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l"/>
            <a:r>
              <a:rPr sz="1600" b="1">
                <a:solidFill>
                  <a:srgbClr val="F5F8FC"/>
                </a:solidFill>
                <a:latin typeface="Aptos"/>
              </a:rPr>
              <a:t>Adjust to canvas ratio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068312" y="4142231"/>
            <a:ext cx="18288" cy="384048"/>
          </a:xfrm>
          <a:prstGeom prst="rect">
            <a:avLst/>
          </a:prstGeom>
          <a:solidFill>
            <a:srgbClr val="3C4B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876288" y="4581144"/>
            <a:ext cx="411480" cy="292608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l"/>
            <a:r>
              <a:rPr sz="1100" b="1">
                <a:solidFill>
                  <a:srgbClr val="F5F8FC"/>
                </a:solidFill>
                <a:latin typeface="Aptos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52360" y="4562856"/>
            <a:ext cx="3337560" cy="36576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l"/>
            <a:r>
              <a:rPr sz="1600" b="1">
                <a:solidFill>
                  <a:srgbClr val="F5F8FC"/>
                </a:solidFill>
                <a:latin typeface="Aptos"/>
              </a:rPr>
              <a:t>Save work as PNG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78790" y="5138826"/>
            <a:ext cx="4395178" cy="221599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l"/>
            <a:r>
              <a:rPr sz="1200" b="0" dirty="0">
                <a:solidFill>
                  <a:srgbClr val="AAB8CA"/>
                </a:solidFill>
                <a:latin typeface="Aptos"/>
              </a:rPr>
              <a:t>PNG export keeps the finished artwork available on the </a:t>
            </a:r>
            <a:r>
              <a:rPr lang="en-US" sz="1200" b="0" dirty="0">
                <a:solidFill>
                  <a:srgbClr val="AAB8CA"/>
                </a:solidFill>
                <a:latin typeface="Aptos"/>
              </a:rPr>
              <a:t>C</a:t>
            </a:r>
            <a:r>
              <a:rPr sz="1200" b="0" dirty="0">
                <a:solidFill>
                  <a:srgbClr val="AAB8CA"/>
                </a:solidFill>
                <a:latin typeface="Aptos"/>
              </a:rPr>
              <a:t>omputer.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14:window dir="ver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8C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840480" cy="256032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l"/>
            <a:r>
              <a:rPr sz="1000" b="1">
                <a:solidFill>
                  <a:srgbClr val="38CDDC"/>
                </a:solidFill>
                <a:latin typeface="Aptos"/>
              </a:rPr>
              <a:t>05 /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07040" cy="566928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l"/>
            <a:r>
              <a:rPr sz="2600" b="1">
                <a:solidFill>
                  <a:srgbClr val="F5F8FC"/>
                </a:solidFill>
                <a:latin typeface="Aptos"/>
              </a:rPr>
              <a:t>How the Editor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347472"/>
            <a:ext cx="411480" cy="22860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r"/>
            <a:r>
              <a:rPr sz="1000" b="1">
                <a:solidFill>
                  <a:srgbClr val="AAB8CA"/>
                </a:solidFill>
                <a:latin typeface="Aptos"/>
              </a:rP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463040"/>
            <a:ext cx="1749453" cy="34471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l"/>
            <a:r>
              <a:rPr sz="2000" b="1" dirty="0">
                <a:solidFill>
                  <a:srgbClr val="F5F8FC"/>
                </a:solidFill>
                <a:latin typeface="Aptos"/>
              </a:rPr>
              <a:t>User </a:t>
            </a:r>
            <a:r>
              <a:rPr lang="en-US" sz="2000" b="1" dirty="0">
                <a:solidFill>
                  <a:srgbClr val="F5F8FC"/>
                </a:solidFill>
                <a:latin typeface="Aptos"/>
              </a:rPr>
              <a:t>W</a:t>
            </a:r>
            <a:r>
              <a:rPr sz="2000" b="1" dirty="0">
                <a:solidFill>
                  <a:srgbClr val="F5F8FC"/>
                </a:solidFill>
                <a:latin typeface="Aptos"/>
              </a:rPr>
              <a:t>orkflow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057400"/>
            <a:ext cx="1737360" cy="1078992"/>
          </a:xfrm>
          <a:prstGeom prst="roundRect">
            <a:avLst/>
          </a:prstGeom>
          <a:solidFill>
            <a:srgbClr val="161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2267712"/>
            <a:ext cx="347472" cy="27432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ctr"/>
            <a:r>
              <a:rPr sz="1400" b="1">
                <a:solidFill>
                  <a:srgbClr val="38CDDC"/>
                </a:solidFill>
                <a:latin typeface="Aptos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4642" y="2252014"/>
            <a:ext cx="1205523" cy="267766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l"/>
            <a:r>
              <a:rPr lang="en-US" sz="1500" b="1" dirty="0">
                <a:solidFill>
                  <a:srgbClr val="F5F8FC"/>
                </a:solidFill>
                <a:latin typeface="Aptos"/>
              </a:rPr>
              <a:t>C</a:t>
            </a:r>
            <a:r>
              <a:rPr sz="1500" b="1" dirty="0">
                <a:solidFill>
                  <a:srgbClr val="F5F8FC"/>
                </a:solidFill>
                <a:latin typeface="Aptos"/>
              </a:rPr>
              <a:t>hoose color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32304" y="2395728"/>
            <a:ext cx="320040" cy="256032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l"/>
            <a:r>
              <a:rPr sz="1400" b="1">
                <a:solidFill>
                  <a:srgbClr val="AAB8CA"/>
                </a:solidFill>
                <a:latin typeface="Aptos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71215" y="2057400"/>
            <a:ext cx="1737360" cy="1078992"/>
          </a:xfrm>
          <a:prstGeom prst="roundRect">
            <a:avLst/>
          </a:prstGeom>
          <a:solidFill>
            <a:srgbClr val="161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990087" y="2267712"/>
            <a:ext cx="347472" cy="27432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ctr"/>
            <a:r>
              <a:rPr sz="1400" b="1">
                <a:solidFill>
                  <a:srgbClr val="FF9748"/>
                </a:solidFill>
                <a:latin typeface="Apto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33540" y="2253901"/>
            <a:ext cx="999376" cy="267766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l"/>
            <a:r>
              <a:rPr sz="1500" b="1" dirty="0">
                <a:solidFill>
                  <a:srgbClr val="F5F8FC"/>
                </a:solidFill>
                <a:latin typeface="Aptos"/>
              </a:rPr>
              <a:t>Select </a:t>
            </a:r>
            <a:r>
              <a:rPr lang="en-US" sz="1500" b="1" dirty="0">
                <a:solidFill>
                  <a:srgbClr val="F5F8FC"/>
                </a:solidFill>
                <a:latin typeface="Aptos"/>
              </a:rPr>
              <a:t>T</a:t>
            </a:r>
            <a:r>
              <a:rPr sz="1500" b="1" dirty="0">
                <a:solidFill>
                  <a:srgbClr val="F5F8FC"/>
                </a:solidFill>
                <a:latin typeface="Aptos"/>
              </a:rPr>
              <a:t>ool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2395728"/>
            <a:ext cx="320040" cy="256032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l"/>
            <a:r>
              <a:rPr sz="1400" b="1">
                <a:solidFill>
                  <a:srgbClr val="AAB8CA"/>
                </a:solidFill>
                <a:latin typeface="Aptos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84064" y="2057400"/>
            <a:ext cx="1737360" cy="1078992"/>
          </a:xfrm>
          <a:prstGeom prst="roundRect">
            <a:avLst/>
          </a:prstGeom>
          <a:solidFill>
            <a:srgbClr val="161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202936" y="2267712"/>
            <a:ext cx="347472" cy="27432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ctr"/>
            <a:r>
              <a:rPr sz="1400" b="1">
                <a:solidFill>
                  <a:srgbClr val="54C991"/>
                </a:solidFill>
                <a:latin typeface="Apto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10928" y="2261845"/>
            <a:ext cx="1178464" cy="267766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l"/>
            <a:r>
              <a:rPr sz="1500" b="1" dirty="0">
                <a:solidFill>
                  <a:srgbClr val="F5F8FC"/>
                </a:solidFill>
                <a:latin typeface="Aptos"/>
              </a:rPr>
              <a:t>Click </a:t>
            </a:r>
            <a:r>
              <a:rPr lang="en-US" sz="1500" b="1" dirty="0">
                <a:solidFill>
                  <a:srgbClr val="F5F8FC"/>
                </a:solidFill>
                <a:latin typeface="Aptos"/>
              </a:rPr>
              <a:t>C</a:t>
            </a:r>
            <a:r>
              <a:rPr sz="1500" b="1" dirty="0">
                <a:solidFill>
                  <a:srgbClr val="F5F8FC"/>
                </a:solidFill>
                <a:latin typeface="Aptos"/>
              </a:rPr>
              <a:t>anvas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2395728"/>
            <a:ext cx="320040" cy="256032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l"/>
            <a:r>
              <a:rPr sz="1400" b="1">
                <a:solidFill>
                  <a:srgbClr val="AAB8CA"/>
                </a:solidFill>
                <a:latin typeface="Aptos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96912" y="2057400"/>
            <a:ext cx="1737360" cy="1078992"/>
          </a:xfrm>
          <a:prstGeom prst="roundRect">
            <a:avLst/>
          </a:prstGeom>
          <a:solidFill>
            <a:srgbClr val="161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415783" y="2267712"/>
            <a:ext cx="347472" cy="27432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ctr"/>
            <a:r>
              <a:rPr sz="1400" b="1">
                <a:solidFill>
                  <a:srgbClr val="F5F8FC"/>
                </a:solidFill>
                <a:latin typeface="Apto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03709" y="2257194"/>
            <a:ext cx="1136978" cy="267766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l"/>
            <a:r>
              <a:rPr sz="1500" b="1" dirty="0">
                <a:solidFill>
                  <a:srgbClr val="F5F8FC"/>
                </a:solidFill>
                <a:latin typeface="Aptos"/>
              </a:rPr>
              <a:t>View </a:t>
            </a:r>
            <a:r>
              <a:rPr lang="en-US" sz="1500" b="1" dirty="0">
                <a:solidFill>
                  <a:srgbClr val="F5F8FC"/>
                </a:solidFill>
                <a:latin typeface="Aptos"/>
              </a:rPr>
              <a:t>U</a:t>
            </a:r>
            <a:r>
              <a:rPr sz="1500" b="1" dirty="0">
                <a:solidFill>
                  <a:srgbClr val="F5F8FC"/>
                </a:solidFill>
                <a:latin typeface="Aptos"/>
              </a:rPr>
              <a:t>pdate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70848" y="2395728"/>
            <a:ext cx="320040" cy="256032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l"/>
            <a:r>
              <a:rPr sz="1400" b="1">
                <a:solidFill>
                  <a:srgbClr val="AAB8CA"/>
                </a:solidFill>
                <a:latin typeface="Aptos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509760" y="2057400"/>
            <a:ext cx="1737360" cy="1078992"/>
          </a:xfrm>
          <a:prstGeom prst="roundRect">
            <a:avLst/>
          </a:prstGeom>
          <a:solidFill>
            <a:srgbClr val="161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628632" y="2267712"/>
            <a:ext cx="347472" cy="27432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ctr"/>
            <a:r>
              <a:rPr sz="1400" b="1">
                <a:solidFill>
                  <a:srgbClr val="38CDDC"/>
                </a:solidFill>
                <a:latin typeface="Aptos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76104" y="2257194"/>
            <a:ext cx="1036053" cy="267766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l"/>
            <a:r>
              <a:rPr sz="1500" b="1" dirty="0">
                <a:solidFill>
                  <a:srgbClr val="F5F8FC"/>
                </a:solidFill>
                <a:latin typeface="Aptos"/>
              </a:rPr>
              <a:t>Save / </a:t>
            </a:r>
            <a:r>
              <a:rPr lang="en-US" sz="1500" b="1" dirty="0">
                <a:solidFill>
                  <a:srgbClr val="F5F8FC"/>
                </a:solidFill>
                <a:latin typeface="Aptos"/>
              </a:rPr>
              <a:t>L</a:t>
            </a:r>
            <a:r>
              <a:rPr sz="1500" b="1" dirty="0">
                <a:solidFill>
                  <a:srgbClr val="F5F8FC"/>
                </a:solidFill>
                <a:latin typeface="Aptos"/>
              </a:rPr>
              <a:t>oad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3657600"/>
            <a:ext cx="5303520" cy="1920240"/>
          </a:xfrm>
          <a:prstGeom prst="roundRect">
            <a:avLst/>
          </a:prstGeom>
          <a:solidFill>
            <a:srgbClr val="161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32688" y="3861230"/>
            <a:ext cx="1618264" cy="221599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l"/>
            <a:r>
              <a:rPr sz="1200" b="1" dirty="0">
                <a:solidFill>
                  <a:srgbClr val="38CDDC"/>
                </a:solidFill>
                <a:latin typeface="Aptos"/>
              </a:rPr>
              <a:t>Implementation </a:t>
            </a:r>
            <a:r>
              <a:rPr lang="en-US" sz="1200" b="1" dirty="0">
                <a:solidFill>
                  <a:srgbClr val="38CDDC"/>
                </a:solidFill>
                <a:latin typeface="Aptos"/>
              </a:rPr>
              <a:t>F</a:t>
            </a:r>
            <a:r>
              <a:rPr sz="1200" b="1" dirty="0">
                <a:solidFill>
                  <a:srgbClr val="38CDDC"/>
                </a:solidFill>
                <a:latin typeface="Aptos"/>
              </a:rPr>
              <a:t>ocus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2688" y="4224528"/>
            <a:ext cx="4572000" cy="1184042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400">
                <a:solidFill>
                  <a:srgbClr val="F5F8FC"/>
                </a:solidFill>
                <a:latin typeface="Aptos"/>
              </a:defRPr>
            </a:pPr>
            <a:r>
              <a:rPr dirty="0"/>
              <a:t>•  </a:t>
            </a:r>
            <a:r>
              <a:rPr lang="en-US" dirty="0"/>
              <a:t>G</a:t>
            </a:r>
            <a:r>
              <a:rPr dirty="0"/>
              <a:t>lobal 2D array stores the 15 × 15 canvas.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400">
                <a:solidFill>
                  <a:srgbClr val="F5F8FC"/>
                </a:solidFill>
                <a:latin typeface="Aptos"/>
              </a:defRPr>
            </a:pPr>
            <a:r>
              <a:rPr dirty="0"/>
              <a:t>•  Separate functions handle drawing, erasing, filling, and interaction.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400">
                <a:solidFill>
                  <a:srgbClr val="F5F8FC"/>
                </a:solidFill>
                <a:latin typeface="Aptos"/>
              </a:defRPr>
            </a:pPr>
            <a:r>
              <a:rPr dirty="0"/>
              <a:t>•  Boundary checks protect valid canvas coordinates.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72200" y="3657600"/>
            <a:ext cx="5349240" cy="1920240"/>
          </a:xfrm>
          <a:prstGeom prst="roundRect">
            <a:avLst/>
          </a:prstGeom>
          <a:solidFill>
            <a:srgbClr val="161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46520" y="3857696"/>
            <a:ext cx="1272336" cy="221599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l"/>
            <a:r>
              <a:rPr sz="1200" b="1" dirty="0">
                <a:solidFill>
                  <a:srgbClr val="FF9748"/>
                </a:solidFill>
                <a:latin typeface="Aptos"/>
              </a:rPr>
              <a:t>Interaction </a:t>
            </a:r>
            <a:r>
              <a:rPr lang="en-US" sz="1200" b="1" dirty="0">
                <a:solidFill>
                  <a:srgbClr val="FF9748"/>
                </a:solidFill>
                <a:latin typeface="Aptos"/>
              </a:rPr>
              <a:t>M</a:t>
            </a:r>
            <a:r>
              <a:rPr sz="1200" b="1" dirty="0">
                <a:solidFill>
                  <a:srgbClr val="FF9748"/>
                </a:solidFill>
                <a:latin typeface="Aptos"/>
              </a:rPr>
              <a:t>odel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0157" y="4224528"/>
            <a:ext cx="4572000" cy="100584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400">
                <a:solidFill>
                  <a:srgbClr val="F5F8FC"/>
                </a:solidFill>
                <a:latin typeface="Aptos"/>
              </a:defRPr>
            </a:pPr>
            <a:r>
              <a:rPr dirty="0"/>
              <a:t>•  Mouse input selects pixels and controls.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400">
                <a:solidFill>
                  <a:srgbClr val="F5F8FC"/>
                </a:solidFill>
                <a:latin typeface="Aptos"/>
              </a:defRPr>
            </a:pPr>
            <a:r>
              <a:rPr dirty="0"/>
              <a:t>•  The interface is refreshed after an editing action.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400">
                <a:solidFill>
                  <a:srgbClr val="F5F8FC"/>
                </a:solidFill>
                <a:latin typeface="Aptos"/>
              </a:defRPr>
            </a:pPr>
            <a:r>
              <a:rPr dirty="0"/>
              <a:t>•  Keyboard shortcuts support save, load, and quit.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prism isContent="1" isInverted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8C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840480" cy="256032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l"/>
            <a:r>
              <a:rPr sz="1000" b="1">
                <a:solidFill>
                  <a:srgbClr val="38CDDC"/>
                </a:solidFill>
                <a:latin typeface="Aptos"/>
              </a:rPr>
              <a:t>06 / CLOSE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607040" cy="566928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l"/>
            <a:r>
              <a:rPr sz="2600" b="1">
                <a:solidFill>
                  <a:srgbClr val="F5F8FC"/>
                </a:solidFill>
                <a:latin typeface="Aptos"/>
              </a:rPr>
              <a:t>Conclusion &amp; Key 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347472"/>
            <a:ext cx="411480" cy="22860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r"/>
            <a:r>
              <a:rPr sz="1000" b="1">
                <a:solidFill>
                  <a:srgbClr val="AAB8CA"/>
                </a:solidFill>
                <a:latin typeface="Aptos"/>
              </a:rPr>
              <a:t>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417320"/>
            <a:ext cx="10424160" cy="475488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l"/>
            <a:r>
              <a:rPr sz="2400" b="1">
                <a:solidFill>
                  <a:srgbClr val="F5F8FC"/>
                </a:solidFill>
                <a:latin typeface="Aptos"/>
              </a:rPr>
              <a:t>A compact C project with a complete interactive workflow.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993392"/>
            <a:ext cx="9875520" cy="36576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l"/>
            <a:r>
              <a:rPr sz="1500" b="0">
                <a:solidFill>
                  <a:srgbClr val="AAB8CA"/>
                </a:solidFill>
                <a:latin typeface="Aptos"/>
              </a:rPr>
              <a:t>The project connects fundamental programming concepts to a practical visual application.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880360"/>
            <a:ext cx="3401568" cy="1508760"/>
          </a:xfrm>
          <a:prstGeom prst="roundRect">
            <a:avLst/>
          </a:prstGeom>
          <a:solidFill>
            <a:srgbClr val="161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3127248"/>
            <a:ext cx="411480" cy="22860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l"/>
            <a:r>
              <a:rPr sz="1100" b="1">
                <a:solidFill>
                  <a:srgbClr val="38CDDC"/>
                </a:solidFill>
                <a:latin typeface="Apto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247" y="3057305"/>
            <a:ext cx="1524969" cy="298543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l"/>
            <a:r>
              <a:rPr sz="1700" b="1" dirty="0">
                <a:solidFill>
                  <a:srgbClr val="F5F8FC"/>
                </a:solidFill>
                <a:latin typeface="Aptos"/>
              </a:rPr>
              <a:t>Core </a:t>
            </a:r>
            <a:r>
              <a:rPr lang="en-US" sz="1700" b="1" dirty="0">
                <a:solidFill>
                  <a:srgbClr val="F5F8FC"/>
                </a:solidFill>
                <a:latin typeface="Aptos"/>
              </a:rPr>
              <a:t>C</a:t>
            </a:r>
            <a:r>
              <a:rPr sz="1700" b="1" dirty="0">
                <a:solidFill>
                  <a:srgbClr val="F5F8FC"/>
                </a:solidFill>
                <a:latin typeface="Aptos"/>
              </a:rPr>
              <a:t>oncepts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74349" y="3462879"/>
            <a:ext cx="1369606" cy="775597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l"/>
            <a:r>
              <a:rPr lang="en-US" sz="1200" b="0" dirty="0">
                <a:solidFill>
                  <a:srgbClr val="AAB8CA"/>
                </a:solidFill>
                <a:latin typeface="Aptos"/>
              </a:rPr>
              <a:t>• </a:t>
            </a:r>
            <a:r>
              <a:rPr sz="1200" b="0" dirty="0">
                <a:solidFill>
                  <a:srgbClr val="AAB8CA"/>
                </a:solidFill>
                <a:latin typeface="Aptos"/>
              </a:rPr>
              <a:t>2D </a:t>
            </a:r>
            <a:r>
              <a:rPr lang="en-US" sz="1200" b="0" dirty="0">
                <a:solidFill>
                  <a:srgbClr val="AAB8CA"/>
                </a:solidFill>
                <a:latin typeface="Aptos"/>
              </a:rPr>
              <a:t>A</a:t>
            </a:r>
            <a:r>
              <a:rPr sz="1200" b="0" dirty="0">
                <a:solidFill>
                  <a:srgbClr val="AAB8CA"/>
                </a:solidFill>
                <a:latin typeface="Aptos"/>
              </a:rPr>
              <a:t>rrays </a:t>
            </a:r>
            <a:endParaRPr lang="en-US" sz="1200" b="0" dirty="0">
              <a:solidFill>
                <a:srgbClr val="AAB8CA"/>
              </a:solidFill>
              <a:latin typeface="Aptos"/>
            </a:endParaRPr>
          </a:p>
          <a:p>
            <a:pPr algn="l"/>
            <a:r>
              <a:rPr sz="1200" b="0" dirty="0">
                <a:solidFill>
                  <a:srgbClr val="AAB8CA"/>
                </a:solidFill>
                <a:latin typeface="Aptos"/>
              </a:rPr>
              <a:t>•</a:t>
            </a:r>
            <a:r>
              <a:rPr lang="en-US" sz="1200" b="0" dirty="0">
                <a:solidFill>
                  <a:srgbClr val="AAB8CA"/>
                </a:solidFill>
                <a:latin typeface="Aptos"/>
              </a:rPr>
              <a:t> F</a:t>
            </a:r>
            <a:r>
              <a:rPr sz="1200" b="0" dirty="0">
                <a:solidFill>
                  <a:srgbClr val="AAB8CA"/>
                </a:solidFill>
                <a:latin typeface="Aptos"/>
              </a:rPr>
              <a:t>unctions </a:t>
            </a:r>
            <a:endParaRPr lang="en-US" sz="1200" b="0" dirty="0">
              <a:solidFill>
                <a:srgbClr val="AAB8CA"/>
              </a:solidFill>
              <a:latin typeface="Aptos"/>
            </a:endParaRPr>
          </a:p>
          <a:p>
            <a:pPr algn="l"/>
            <a:r>
              <a:rPr sz="1200" b="0" dirty="0">
                <a:solidFill>
                  <a:srgbClr val="AAB8CA"/>
                </a:solidFill>
                <a:latin typeface="Aptos"/>
              </a:rPr>
              <a:t>•</a:t>
            </a:r>
            <a:r>
              <a:rPr lang="en-US" sz="1200" b="0" dirty="0">
                <a:solidFill>
                  <a:srgbClr val="AAB8CA"/>
                </a:solidFill>
                <a:latin typeface="Aptos"/>
              </a:rPr>
              <a:t> L</a:t>
            </a:r>
            <a:r>
              <a:rPr sz="1200" b="0" dirty="0">
                <a:solidFill>
                  <a:srgbClr val="AAB8CA"/>
                </a:solidFill>
                <a:latin typeface="Aptos"/>
              </a:rPr>
              <a:t>oops </a:t>
            </a:r>
            <a:endParaRPr lang="en-US" sz="1200" b="0" dirty="0">
              <a:solidFill>
                <a:srgbClr val="AAB8CA"/>
              </a:solidFill>
              <a:latin typeface="Aptos"/>
            </a:endParaRPr>
          </a:p>
          <a:p>
            <a:pPr algn="l"/>
            <a:r>
              <a:rPr sz="1200" b="0" dirty="0">
                <a:solidFill>
                  <a:srgbClr val="AAB8CA"/>
                </a:solidFill>
                <a:latin typeface="Aptos"/>
              </a:rPr>
              <a:t>• </a:t>
            </a:r>
            <a:r>
              <a:rPr lang="en-US" sz="1200" dirty="0">
                <a:solidFill>
                  <a:srgbClr val="AAB8CA"/>
                </a:solidFill>
                <a:latin typeface="Aptos"/>
              </a:rPr>
              <a:t>C</a:t>
            </a:r>
            <a:r>
              <a:rPr sz="1200" b="0" dirty="0">
                <a:solidFill>
                  <a:srgbClr val="AAB8CA"/>
                </a:solidFill>
                <a:latin typeface="Aptos"/>
              </a:rPr>
              <a:t>ontrol </a:t>
            </a:r>
            <a:r>
              <a:rPr lang="en-US" sz="1200" b="0" dirty="0">
                <a:solidFill>
                  <a:srgbClr val="AAB8CA"/>
                </a:solidFill>
                <a:latin typeface="Aptos"/>
              </a:rPr>
              <a:t>S</a:t>
            </a:r>
            <a:r>
              <a:rPr sz="1200" b="0" dirty="0">
                <a:solidFill>
                  <a:srgbClr val="AAB8CA"/>
                </a:solidFill>
                <a:latin typeface="Aptos"/>
              </a:rPr>
              <a:t>tructures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07407" y="2880360"/>
            <a:ext cx="3401568" cy="1508760"/>
          </a:xfrm>
          <a:prstGeom prst="roundRect">
            <a:avLst/>
          </a:prstGeom>
          <a:solidFill>
            <a:srgbClr val="161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17720" y="3127248"/>
            <a:ext cx="411480" cy="22860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l"/>
            <a:r>
              <a:rPr sz="1100" b="1">
                <a:solidFill>
                  <a:srgbClr val="FF9748"/>
                </a:solidFill>
                <a:latin typeface="Aptos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3045150"/>
            <a:ext cx="1431546" cy="298543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l"/>
            <a:r>
              <a:rPr sz="1700" b="1" dirty="0">
                <a:solidFill>
                  <a:srgbClr val="F5F8FC"/>
                </a:solidFill>
                <a:latin typeface="Aptos"/>
              </a:rPr>
              <a:t>Core </a:t>
            </a:r>
            <a:r>
              <a:rPr lang="en-US" sz="1700" b="1" dirty="0">
                <a:solidFill>
                  <a:srgbClr val="F5F8FC"/>
                </a:solidFill>
                <a:latin typeface="Aptos"/>
              </a:rPr>
              <a:t>F</a:t>
            </a:r>
            <a:r>
              <a:rPr sz="1700" b="1" dirty="0">
                <a:solidFill>
                  <a:srgbClr val="F5F8FC"/>
                </a:solidFill>
                <a:latin typeface="Aptos"/>
              </a:rPr>
              <a:t>eatures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73103" y="3327867"/>
            <a:ext cx="543739" cy="960263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l"/>
            <a:r>
              <a:rPr lang="en-US" sz="1200" b="0" dirty="0">
                <a:solidFill>
                  <a:srgbClr val="AAB8CA"/>
                </a:solidFill>
                <a:latin typeface="Aptos"/>
              </a:rPr>
              <a:t>• </a:t>
            </a:r>
            <a:r>
              <a:rPr sz="1200" b="0" dirty="0">
                <a:solidFill>
                  <a:srgbClr val="AAB8CA"/>
                </a:solidFill>
                <a:latin typeface="Aptos"/>
              </a:rPr>
              <a:t>Draw </a:t>
            </a:r>
            <a:endParaRPr lang="en-US" sz="1200" b="0" dirty="0">
              <a:solidFill>
                <a:srgbClr val="AAB8CA"/>
              </a:solidFill>
              <a:latin typeface="Aptos"/>
            </a:endParaRPr>
          </a:p>
          <a:p>
            <a:pPr algn="l"/>
            <a:r>
              <a:rPr sz="1200" b="0" dirty="0">
                <a:solidFill>
                  <a:srgbClr val="AAB8CA"/>
                </a:solidFill>
                <a:latin typeface="Aptos"/>
              </a:rPr>
              <a:t>• </a:t>
            </a:r>
            <a:r>
              <a:rPr lang="en-US" sz="1200" dirty="0">
                <a:solidFill>
                  <a:srgbClr val="AAB8CA"/>
                </a:solidFill>
                <a:latin typeface="Aptos"/>
              </a:rPr>
              <a:t>E</a:t>
            </a:r>
            <a:r>
              <a:rPr sz="1200" b="0" dirty="0">
                <a:solidFill>
                  <a:srgbClr val="AAB8CA"/>
                </a:solidFill>
                <a:latin typeface="Aptos"/>
              </a:rPr>
              <a:t>rase </a:t>
            </a:r>
            <a:endParaRPr lang="en-US" sz="1200" b="0" dirty="0">
              <a:solidFill>
                <a:srgbClr val="AAB8CA"/>
              </a:solidFill>
              <a:latin typeface="Aptos"/>
            </a:endParaRPr>
          </a:p>
          <a:p>
            <a:pPr algn="l"/>
            <a:r>
              <a:rPr sz="1200" b="0" dirty="0">
                <a:solidFill>
                  <a:srgbClr val="AAB8CA"/>
                </a:solidFill>
                <a:latin typeface="Aptos"/>
              </a:rPr>
              <a:t>• </a:t>
            </a:r>
            <a:r>
              <a:rPr lang="en-US" sz="1200" dirty="0">
                <a:solidFill>
                  <a:srgbClr val="AAB8CA"/>
                </a:solidFill>
                <a:latin typeface="Aptos"/>
              </a:rPr>
              <a:t>F</a:t>
            </a:r>
            <a:r>
              <a:rPr sz="1200" b="0" dirty="0">
                <a:solidFill>
                  <a:srgbClr val="AAB8CA"/>
                </a:solidFill>
                <a:latin typeface="Aptos"/>
              </a:rPr>
              <a:t>ill </a:t>
            </a:r>
            <a:endParaRPr lang="en-US" sz="1200" b="0" dirty="0">
              <a:solidFill>
                <a:srgbClr val="AAB8CA"/>
              </a:solidFill>
              <a:latin typeface="Aptos"/>
            </a:endParaRPr>
          </a:p>
          <a:p>
            <a:pPr algn="l"/>
            <a:r>
              <a:rPr sz="1200" b="0" dirty="0">
                <a:solidFill>
                  <a:srgbClr val="AAB8CA"/>
                </a:solidFill>
                <a:latin typeface="Aptos"/>
              </a:rPr>
              <a:t>• </a:t>
            </a:r>
            <a:r>
              <a:rPr lang="en-US" sz="1200" dirty="0">
                <a:solidFill>
                  <a:srgbClr val="AAB8CA"/>
                </a:solidFill>
                <a:latin typeface="Aptos"/>
              </a:rPr>
              <a:t>L</a:t>
            </a:r>
            <a:r>
              <a:rPr sz="1200" b="0" dirty="0">
                <a:solidFill>
                  <a:srgbClr val="AAB8CA"/>
                </a:solidFill>
                <a:latin typeface="Aptos"/>
              </a:rPr>
              <a:t>oad </a:t>
            </a:r>
            <a:endParaRPr lang="en-US" sz="1200" b="0" dirty="0">
              <a:solidFill>
                <a:srgbClr val="AAB8CA"/>
              </a:solidFill>
              <a:latin typeface="Aptos"/>
            </a:endParaRPr>
          </a:p>
          <a:p>
            <a:pPr algn="l"/>
            <a:r>
              <a:rPr sz="1200" b="0" dirty="0">
                <a:solidFill>
                  <a:srgbClr val="AAB8CA"/>
                </a:solidFill>
                <a:latin typeface="Aptos"/>
              </a:rPr>
              <a:t>• </a:t>
            </a:r>
            <a:r>
              <a:rPr lang="en-US" sz="1200" dirty="0">
                <a:solidFill>
                  <a:srgbClr val="AAB8CA"/>
                </a:solidFill>
                <a:latin typeface="Aptos"/>
              </a:rPr>
              <a:t>S</a:t>
            </a:r>
            <a:r>
              <a:rPr sz="1200" b="0" dirty="0">
                <a:solidFill>
                  <a:srgbClr val="AAB8CA"/>
                </a:solidFill>
                <a:latin typeface="Aptos"/>
              </a:rPr>
              <a:t>ave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56448" y="2880360"/>
            <a:ext cx="3401568" cy="1508760"/>
          </a:xfrm>
          <a:prstGeom prst="roundRect">
            <a:avLst/>
          </a:prstGeom>
          <a:solidFill>
            <a:srgbClr val="161F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66760" y="3127248"/>
            <a:ext cx="411480" cy="228600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l"/>
            <a:r>
              <a:rPr sz="1100" b="1">
                <a:solidFill>
                  <a:srgbClr val="54C991"/>
                </a:solidFill>
                <a:latin typeface="Apto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14464" y="3055701"/>
            <a:ext cx="1658403" cy="298543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l"/>
            <a:r>
              <a:rPr sz="1700" b="1" dirty="0">
                <a:solidFill>
                  <a:srgbClr val="F5F8FC"/>
                </a:solidFill>
                <a:latin typeface="Aptos"/>
              </a:rPr>
              <a:t>User </a:t>
            </a:r>
            <a:r>
              <a:rPr lang="en-US" sz="1700" b="1" dirty="0">
                <a:solidFill>
                  <a:srgbClr val="F5F8FC"/>
                </a:solidFill>
                <a:latin typeface="Aptos"/>
              </a:rPr>
              <a:t>E</a:t>
            </a:r>
            <a:r>
              <a:rPr sz="1700" b="1" dirty="0">
                <a:solidFill>
                  <a:srgbClr val="F5F8FC"/>
                </a:solidFill>
                <a:latin typeface="Aptos"/>
              </a:rPr>
              <a:t>xperience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27566" y="3429000"/>
            <a:ext cx="1232197" cy="590931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l"/>
            <a:r>
              <a:rPr lang="en-US" sz="1200" b="0" dirty="0">
                <a:solidFill>
                  <a:srgbClr val="AAB8CA"/>
                </a:solidFill>
                <a:latin typeface="Aptos"/>
              </a:rPr>
              <a:t>• </a:t>
            </a:r>
            <a:r>
              <a:rPr sz="1200" b="0" dirty="0">
                <a:solidFill>
                  <a:srgbClr val="AAB8CA"/>
                </a:solidFill>
                <a:latin typeface="Aptos"/>
              </a:rPr>
              <a:t>Simple </a:t>
            </a:r>
            <a:endParaRPr lang="en-US" sz="1200" b="0" dirty="0">
              <a:solidFill>
                <a:srgbClr val="AAB8CA"/>
              </a:solidFill>
              <a:latin typeface="Aptos"/>
            </a:endParaRPr>
          </a:p>
          <a:p>
            <a:pPr algn="l"/>
            <a:r>
              <a:rPr sz="1200" b="0" dirty="0">
                <a:solidFill>
                  <a:srgbClr val="AAB8CA"/>
                </a:solidFill>
                <a:latin typeface="Aptos"/>
              </a:rPr>
              <a:t>• </a:t>
            </a:r>
            <a:r>
              <a:rPr lang="en-US" sz="1200" dirty="0">
                <a:solidFill>
                  <a:srgbClr val="AAB8CA"/>
                </a:solidFill>
                <a:latin typeface="Aptos"/>
              </a:rPr>
              <a:t>User-I</a:t>
            </a:r>
            <a:r>
              <a:rPr sz="1200" b="0" dirty="0">
                <a:solidFill>
                  <a:srgbClr val="AAB8CA"/>
                </a:solidFill>
                <a:latin typeface="Aptos"/>
              </a:rPr>
              <a:t>nteractive </a:t>
            </a:r>
            <a:endParaRPr lang="en-US" sz="1200" b="0" dirty="0">
              <a:solidFill>
                <a:srgbClr val="AAB8CA"/>
              </a:solidFill>
              <a:latin typeface="Aptos"/>
            </a:endParaRPr>
          </a:p>
          <a:p>
            <a:pPr algn="l"/>
            <a:r>
              <a:rPr sz="1200" b="0" dirty="0">
                <a:solidFill>
                  <a:srgbClr val="AAB8CA"/>
                </a:solidFill>
                <a:latin typeface="Aptos"/>
              </a:rPr>
              <a:t>• </a:t>
            </a:r>
            <a:r>
              <a:rPr lang="en-US" sz="1200" dirty="0">
                <a:solidFill>
                  <a:srgbClr val="AAB8CA"/>
                </a:solidFill>
                <a:latin typeface="Aptos"/>
              </a:rPr>
              <a:t>C</a:t>
            </a:r>
            <a:r>
              <a:rPr sz="1200" b="0" dirty="0">
                <a:solidFill>
                  <a:srgbClr val="AAB8CA"/>
                </a:solidFill>
                <a:latin typeface="Aptos"/>
              </a:rPr>
              <a:t>onsole-</a:t>
            </a:r>
            <a:r>
              <a:rPr lang="en-US" sz="1200" b="0" dirty="0">
                <a:solidFill>
                  <a:srgbClr val="AAB8CA"/>
                </a:solidFill>
                <a:latin typeface="Aptos"/>
              </a:rPr>
              <a:t>B</a:t>
            </a:r>
            <a:r>
              <a:rPr sz="1200" b="0" dirty="0">
                <a:solidFill>
                  <a:srgbClr val="AAB8CA"/>
                </a:solidFill>
                <a:latin typeface="Aptos"/>
              </a:rPr>
              <a:t>ased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4800600"/>
            <a:ext cx="10954512" cy="841248"/>
          </a:xfrm>
          <a:prstGeom prst="roundRect">
            <a:avLst/>
          </a:prstGeom>
          <a:solidFill>
            <a:srgbClr val="1B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4400" y="5047488"/>
            <a:ext cx="10424160" cy="310896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ctr"/>
            <a:r>
              <a:rPr sz="1600" b="1" dirty="0">
                <a:solidFill>
                  <a:srgbClr val="F5F8FC"/>
                </a:solidFill>
                <a:latin typeface="Aptos"/>
              </a:rPr>
              <a:t>Successfully built a simple, functional pixel art editor in C using a structured, user-interactive design.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07953" y="6053328"/>
            <a:ext cx="922047" cy="252377"/>
          </a:xfrm>
          <a:prstGeom prst="rect">
            <a:avLst/>
          </a:prstGeom>
          <a:noFill/>
        </p:spPr>
        <p:txBody>
          <a:bodyPr wrap="none" lIns="18288" tIns="18288" rIns="18288" bIns="18288">
            <a:spAutoFit/>
          </a:bodyPr>
          <a:lstStyle/>
          <a:p>
            <a:pPr algn="r"/>
            <a:r>
              <a:rPr sz="1400" b="1" dirty="0">
                <a:solidFill>
                  <a:srgbClr val="38CDDC"/>
                </a:solidFill>
                <a:latin typeface="Aptos"/>
              </a:rPr>
              <a:t>Thank </a:t>
            </a:r>
            <a:r>
              <a:rPr lang="en-US" sz="1400" b="1" dirty="0">
                <a:solidFill>
                  <a:srgbClr val="38CDDC"/>
                </a:solidFill>
                <a:latin typeface="Aptos"/>
              </a:rPr>
              <a:t>Y</a:t>
            </a:r>
            <a:r>
              <a:rPr sz="1400" b="1" dirty="0">
                <a:solidFill>
                  <a:srgbClr val="38CDDC"/>
                </a:solidFill>
                <a:latin typeface="Aptos"/>
              </a:rPr>
              <a:t>ou</a:t>
            </a:r>
            <a:r>
              <a:rPr lang="en-US" sz="1400" b="1" dirty="0">
                <a:solidFill>
                  <a:srgbClr val="38CDDC"/>
                </a:solidFill>
                <a:latin typeface="Aptos"/>
              </a:rPr>
              <a:t>!</a:t>
            </a:r>
            <a:endParaRPr sz="1400" b="1" dirty="0">
              <a:solidFill>
                <a:srgbClr val="38CDDC"/>
              </a:solidFill>
              <a:latin typeface="Apto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14:flythrough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28</TotalTime>
  <Words>607</Words>
  <Application>Microsoft Office PowerPoint</Application>
  <PresentationFormat>Widescreen</PresentationFormat>
  <Paragraphs>127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Muhammad Samiuzzaman</cp:lastModifiedBy>
  <cp:revision>3</cp:revision>
  <dcterms:created xsi:type="dcterms:W3CDTF">2013-01-27T09:14:16Z</dcterms:created>
  <dcterms:modified xsi:type="dcterms:W3CDTF">2026-08-18T10:45:46Z</dcterms:modified>
  <cp:category/>
</cp:coreProperties>
</file>